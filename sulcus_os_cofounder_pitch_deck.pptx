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f88899bb804b84" /><Relationship Type="http://schemas.openxmlformats.org/officeDocument/2006/relationships/extended-properties" Target="/docProps/app.xml" Id="Rf90f31fe1fcb4554" /><Relationship Type="http://schemas.openxmlformats.org/officeDocument/2006/relationships/officeDocument" Target="/ppt/presentation.xml" Id="R41872ace5a4941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1fd9e771c740da"/>
  </p:sldMasterIdLst>
  <p:notesMasterIdLst>
    <p:notesMasterId xmlns:r="http://schemas.openxmlformats.org/officeDocument/2006/relationships" r:id="Reaf14c8f8af74d88"/>
  </p:notesMasterIdLst>
  <p:sldIdLst>
    <p:sldId xmlns:r="http://schemas.openxmlformats.org/officeDocument/2006/relationships" id="256" r:id="R72983d2e92fa4457"/>
    <p:sldId xmlns:r="http://schemas.openxmlformats.org/officeDocument/2006/relationships" id="257" r:id="R0fce5be92f3344f2"/>
    <p:sldId xmlns:r="http://schemas.openxmlformats.org/officeDocument/2006/relationships" id="258" r:id="R315c396c78214e18"/>
    <p:sldId xmlns:r="http://schemas.openxmlformats.org/officeDocument/2006/relationships" id="259" r:id="Rc9d7489b479241af"/>
    <p:sldId xmlns:r="http://schemas.openxmlformats.org/officeDocument/2006/relationships" id="260" r:id="R832caac537b04535"/>
    <p:sldId xmlns:r="http://schemas.openxmlformats.org/officeDocument/2006/relationships" id="261" r:id="R66dfb97f12e0472d"/>
    <p:sldId xmlns:r="http://schemas.openxmlformats.org/officeDocument/2006/relationships" id="262" r:id="R26bc0821c59f4f65"/>
    <p:sldId xmlns:r="http://schemas.openxmlformats.org/officeDocument/2006/relationships" id="263" r:id="Rf99b6d7604a94702"/>
    <p:sldId xmlns:r="http://schemas.openxmlformats.org/officeDocument/2006/relationships" id="264" r:id="Rfe24930699f04f8e"/>
    <p:sldId xmlns:r="http://schemas.openxmlformats.org/officeDocument/2006/relationships" id="265" r:id="Rba60ee4033ff4a9b"/>
    <p:sldId xmlns:r="http://schemas.openxmlformats.org/officeDocument/2006/relationships" id="266" r:id="R15449700fcf74570"/>
    <p:sldId xmlns:r="http://schemas.openxmlformats.org/officeDocument/2006/relationships" id="267" r:id="Rdcf540eea25e496a"/>
    <p:sldId xmlns:r="http://schemas.openxmlformats.org/officeDocument/2006/relationships" id="268" r:id="R21af6662a7414bed"/>
    <p:sldId xmlns:r="http://schemas.openxmlformats.org/officeDocument/2006/relationships" id="269" r:id="Rc6fbf6acad744dd7"/>
    <p:sldId xmlns:r="http://schemas.openxmlformats.org/officeDocument/2006/relationships" id="270" r:id="R536120c8939240c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2fdf9b34334e4a" /><Relationship Type="http://schemas.openxmlformats.org/officeDocument/2006/relationships/slideMaster" Target="/ppt/slideMasters/slideMaster1.xml" Id="R401fd9e771c740da" /><Relationship Type="http://schemas.openxmlformats.org/officeDocument/2006/relationships/notesMaster" Target="/ppt/notesMasters/notesMaster1.xml" Id="Reaf14c8f8af74d88" /><Relationship Type="http://schemas.openxmlformats.org/officeDocument/2006/relationships/presProps" Target="/ppt/presProps.xml" Id="R0853fdfa1ca94a3e" /><Relationship Type="http://schemas.openxmlformats.org/officeDocument/2006/relationships/tableStyles" Target="/ppt/tableStyles.xml" Id="R41ba459674444bac" /><Relationship Type="http://schemas.openxmlformats.org/officeDocument/2006/relationships/slide" Target="/ppt/slides/slide1.xml" Id="R72983d2e92fa4457" /><Relationship Type="http://schemas.openxmlformats.org/officeDocument/2006/relationships/slide" Target="/ppt/slides/slide2.xml" Id="R0fce5be92f3344f2" /><Relationship Type="http://schemas.openxmlformats.org/officeDocument/2006/relationships/slide" Target="/ppt/slides/slide3.xml" Id="R315c396c78214e18" /><Relationship Type="http://schemas.openxmlformats.org/officeDocument/2006/relationships/slide" Target="/ppt/slides/slide4.xml" Id="Rc9d7489b479241af" /><Relationship Type="http://schemas.openxmlformats.org/officeDocument/2006/relationships/slide" Target="/ppt/slides/slide5.xml" Id="R832caac537b04535" /><Relationship Type="http://schemas.openxmlformats.org/officeDocument/2006/relationships/slide" Target="/ppt/slides/slide6.xml" Id="R66dfb97f12e0472d" /><Relationship Type="http://schemas.openxmlformats.org/officeDocument/2006/relationships/slide" Target="/ppt/slides/slide7.xml" Id="R26bc0821c59f4f65" /><Relationship Type="http://schemas.openxmlformats.org/officeDocument/2006/relationships/slide" Target="/ppt/slides/slide8.xml" Id="Rf99b6d7604a94702" /><Relationship Type="http://schemas.openxmlformats.org/officeDocument/2006/relationships/slide" Target="/ppt/slides/slide9.xml" Id="Rfe24930699f04f8e" /><Relationship Type="http://schemas.openxmlformats.org/officeDocument/2006/relationships/slide" Target="/ppt/slides/slide10.xml" Id="Rba60ee4033ff4a9b" /><Relationship Type="http://schemas.openxmlformats.org/officeDocument/2006/relationships/slide" Target="/ppt/slides/slide11.xml" Id="R15449700fcf74570" /><Relationship Type="http://schemas.openxmlformats.org/officeDocument/2006/relationships/slide" Target="/ppt/slides/slide12.xml" Id="Rdcf540eea25e496a" /><Relationship Type="http://schemas.openxmlformats.org/officeDocument/2006/relationships/slide" Target="/ppt/slides/slide13.xml" Id="R21af6662a7414bed" /><Relationship Type="http://schemas.openxmlformats.org/officeDocument/2006/relationships/slide" Target="/ppt/slides/slide14.xml" Id="Rc6fbf6acad744dd7" /><Relationship Type="http://schemas.openxmlformats.org/officeDocument/2006/relationships/slide" Target="/ppt/slides/slide15.xml" Id="R536120c8939240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02922e154843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ebe8347f0c4e7a" /><Relationship Type="http://schemas.openxmlformats.org/officeDocument/2006/relationships/notesMaster" Target="/ppt/notesMasters/notesMaster1.xml" Id="R9c5924bd5b234e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3eb0c1817647c3" /><Relationship Type="http://schemas.openxmlformats.org/officeDocument/2006/relationships/notesMaster" Target="/ppt/notesMasters/notesMaster1.xml" Id="Rdfb7c7f5b80745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7110f2832740b0" /><Relationship Type="http://schemas.openxmlformats.org/officeDocument/2006/relationships/notesMaster" Target="/ppt/notesMasters/notesMaster1.xml" Id="R3a43961c1e8346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66aa5744ae4ff9" /><Relationship Type="http://schemas.openxmlformats.org/officeDocument/2006/relationships/notesMaster" Target="/ppt/notesMasters/notesMaster1.xml" Id="R175c9a07bc5242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344b43a533400e" /><Relationship Type="http://schemas.openxmlformats.org/officeDocument/2006/relationships/notesMaster" Target="/ppt/notesMasters/notesMaster1.xml" Id="R71d20d02be794b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52e4eb2f3e45ad" /><Relationship Type="http://schemas.openxmlformats.org/officeDocument/2006/relationships/notesMaster" Target="/ppt/notesMasters/notesMaster1.xml" Id="R712483bf998842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e82c69a721458e" /><Relationship Type="http://schemas.openxmlformats.org/officeDocument/2006/relationships/notesMaster" Target="/ppt/notesMasters/notesMaster1.xml" Id="Rb396d09b680644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1c1ebdf74f43a2" /><Relationship Type="http://schemas.openxmlformats.org/officeDocument/2006/relationships/notesMaster" Target="/ppt/notesMasters/notesMaster1.xml" Id="Ree260cea6cf24c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ad2a51f37845ff" /><Relationship Type="http://schemas.openxmlformats.org/officeDocument/2006/relationships/notesMaster" Target="/ppt/notesMasters/notesMaster1.xml" Id="R16ee7de2815b4d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cac53606bf4652" /><Relationship Type="http://schemas.openxmlformats.org/officeDocument/2006/relationships/notesMaster" Target="/ppt/notesMasters/notesMaster1.xml" Id="Rb3ce67cc452c4f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a58b53a2204dd4" /><Relationship Type="http://schemas.openxmlformats.org/officeDocument/2006/relationships/notesMaster" Target="/ppt/notesMasters/notesMaster1.xml" Id="R196fb30cca684f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62059d4a894674" /><Relationship Type="http://schemas.openxmlformats.org/officeDocument/2006/relationships/notesMaster" Target="/ppt/notesMasters/notesMaster1.xml" Id="R4b9edda8a15346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004cf411c44fa9" /><Relationship Type="http://schemas.openxmlformats.org/officeDocument/2006/relationships/notesMaster" Target="/ppt/notesMasters/notesMaster1.xml" Id="R7858e042d1a74b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85e41f334b4b43" /><Relationship Type="http://schemas.openxmlformats.org/officeDocument/2006/relationships/notesMaster" Target="/ppt/notesMasters/notesMaster1.xml" Id="Reebe6fc0b3154b4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6ede740890d429f" /><Relationship Type="http://schemas.openxmlformats.org/officeDocument/2006/relationships/notesMaster" Target="/ppt/notesMasters/notesMaster1.xml" Id="Re19a2635f4a84a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simple thesis: AI is moving from chat to work execution, and Sulcus OS is building the operating layer those agents need. Frame this as an early but serious infrastructure opportunity.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wave of AI was conversation. The next wave is execution. Agents will increasingly plan, call tools, coordinate, and complete work that previously required people moving across software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Many teams can build demos, but production is where the pain appears. Businesses need agent systems they can inspect, control, debug, and trust.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agents touch real business workflows, companies will ask operational questions: what happened, why, who approved it, can we replay it, can we stop it, and can we scale it?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Sulcus OS gives agents a place to run. Rather than every agent app reinventing process management, messaging, tools, memory, and visibility, Sulcus OS provides those operating primitives.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simplest way to explain the company. We are not pitching another chatbot wrapper. We are pitching infrastructure that manages the lifecycle and behavior of agents.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not just a concept deck. Sulcus OS already has early working components that support the broader runtime thesis. The opportunity now is to package the technical work into a product and company.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Many tools help people prompt or create a single agent. Sulcus OS focuses on what happens when agents actually run: coordination, visibility, tools, state, and operational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early market is likely developers and small teams building agentic workflows now. Over time, the product can expand toward enterprise infrastructure as companies need more governance and reliability.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market framing is familiar: when software becomes important, infrastructure follows. If agents become an important software layer, teams will spend on orchestration, observability, reliability, and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business model should match developer adoption. Open source builds trust and distribution. Revenue comes from hosted visibility, team collaboration, managed runtime, enterprise needs, and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early GTM can be founder-led and content-driven. Show weekly progress, explain the thesis simply, publish examples, and use those signals to find design partners and sharpen the product wedge.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long-term vision is bigger than a developer utility. If agents become a new kind of digital labor, they need a runtime where they can coordinate safely and visibly across software and, eventually, real-world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a non-technical co-founder can create enormous leverage. The role is not ornamental. It is about turning technical depth into a market wedge, a fundraising story, a community, and early customer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invitation. The opportunity is to join early, shape the company, own the business motion, and help turn Sulcus OS from an ambitious technical project into a serious startup.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bab9f1647846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646397e44640fb" /><Relationship Type="http://schemas.openxmlformats.org/officeDocument/2006/relationships/slideLayout" Target="/ppt/slideLayouts/slideLayout1.xml" Id="Ref50232e526041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50232e526041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a1a9272644723" /><Relationship Type="http://schemas.openxmlformats.org/officeDocument/2006/relationships/notesSlide" Target="/ppt/notesSlides/notesSlide1.xml" Id="R60cde0e50d8a4b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2dfe6c5274223" /><Relationship Type="http://schemas.openxmlformats.org/officeDocument/2006/relationships/notesSlide" Target="/ppt/notesSlides/notesSlide2.xml" Id="Rd2049095015a45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d4990ba624c85" /><Relationship Type="http://schemas.openxmlformats.org/officeDocument/2006/relationships/notesSlide" Target="/ppt/notesSlides/notesSlide3.xml" Id="Rd20890d1c5ff4e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e202adc3c4c34" /><Relationship Type="http://schemas.openxmlformats.org/officeDocument/2006/relationships/notesSlide" Target="/ppt/notesSlides/notesSlide4.xml" Id="R6717089bf4e74f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3258d70fa4ecd" /><Relationship Type="http://schemas.openxmlformats.org/officeDocument/2006/relationships/notesSlide" Target="/ppt/notesSlides/notesSlide5.xml" Id="R4b5d5a77731e4e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d0cd0a7b44557" /><Relationship Type="http://schemas.openxmlformats.org/officeDocument/2006/relationships/notesSlide" Target="/ppt/notesSlides/notesSlide6.xml" Id="R8ff8397ce38a4e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44dfaf457480f" /><Relationship Type="http://schemas.openxmlformats.org/officeDocument/2006/relationships/notesSlide" Target="/ppt/notesSlides/notesSlide7.xml" Id="R731cc5638bdc4e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9b8d39c694b4f" /><Relationship Type="http://schemas.openxmlformats.org/officeDocument/2006/relationships/notesSlide" Target="/ppt/notesSlides/notesSlide8.xml" Id="R08df67d3982f4d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0e177da1046dd" /><Relationship Type="http://schemas.openxmlformats.org/officeDocument/2006/relationships/notesSlide" Target="/ppt/notesSlides/notesSlide9.xml" Id="R19ae6ae9596344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ff3fd235246bc" /><Relationship Type="http://schemas.openxmlformats.org/officeDocument/2006/relationships/notesSlide" Target="/ppt/notesSlides/notesSlide10.xml" Id="R2237bf2d07f143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3aa8b30b349f6" /><Relationship Type="http://schemas.openxmlformats.org/officeDocument/2006/relationships/notesSlide" Target="/ppt/notesSlides/notesSlide11.xml" Id="R0692de689e0c47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d4d51e3244e98" /><Relationship Type="http://schemas.openxmlformats.org/officeDocument/2006/relationships/notesSlide" Target="/ppt/notesSlides/notesSlide12.xml" Id="R06c3858ba77841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a5abab79b4781" /><Relationship Type="http://schemas.openxmlformats.org/officeDocument/2006/relationships/notesSlide" Target="/ppt/notesSlides/notesSlide13.xml" Id="Rca49db1e5f4e4fe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a51335a774cc3" /><Relationship Type="http://schemas.openxmlformats.org/officeDocument/2006/relationships/notesSlide" Target="/ppt/notesSlides/notesSlide14.xml" Id="R03c3e9b311be412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55bc7274b444a" /><Relationship Type="http://schemas.openxmlformats.org/officeDocument/2006/relationships/notesSlide" Target="/ppt/notesSlides/notesSlide15.xml" Id="R0e0591a2e8e44d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FC89730-9D53-4A35-B15A-C124A554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2" name="bg-base">
            <a:extLst xmlns:a="http://schemas.openxmlformats.org/drawingml/2006/main">
              <a:ext uri="{FF2B5EF4-FFF2-40B4-BE49-F238E27FC236}">
                <a16:creationId xmlns:a16="http://schemas.microsoft.com/office/drawing/2014/main" id="{32861CE3-5F56-4AEC-8CA6-22FBDA36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CB9BE840-5EF1-45C0-817D-CDC4038A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4" name="grid-v-1">
            <a:extLst xmlns:a="http://schemas.openxmlformats.org/drawingml/2006/main">
              <a:ext uri="{FF2B5EF4-FFF2-40B4-BE49-F238E27FC236}">
                <a16:creationId xmlns:a16="http://schemas.microsoft.com/office/drawing/2014/main" id="{5B5896FA-2BD9-4D4C-B2CA-B031DFC7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5" name="grid-v-2">
            <a:extLst xmlns:a="http://schemas.openxmlformats.org/drawingml/2006/main">
              <a:ext uri="{FF2B5EF4-FFF2-40B4-BE49-F238E27FC236}">
                <a16:creationId xmlns:a16="http://schemas.microsoft.com/office/drawing/2014/main" id="{E36CE9A9-5AE6-4D1E-8FF1-0CF0D165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6" name="grid-v-3">
            <a:extLst xmlns:a="http://schemas.openxmlformats.org/drawingml/2006/main">
              <a:ext uri="{FF2B5EF4-FFF2-40B4-BE49-F238E27FC236}">
                <a16:creationId xmlns:a16="http://schemas.microsoft.com/office/drawing/2014/main" id="{2CC02634-F7E7-4787-BC07-F8A4EE98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7" name="grid-v-4">
            <a:extLst xmlns:a="http://schemas.openxmlformats.org/drawingml/2006/main">
              <a:ext uri="{FF2B5EF4-FFF2-40B4-BE49-F238E27FC236}">
                <a16:creationId xmlns:a16="http://schemas.microsoft.com/office/drawing/2014/main" id="{BC61B916-39C4-4381-89AE-6835D1AA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8" name="grid-v-5">
            <a:extLst xmlns:a="http://schemas.openxmlformats.org/drawingml/2006/main">
              <a:ext uri="{FF2B5EF4-FFF2-40B4-BE49-F238E27FC236}">
                <a16:creationId xmlns:a16="http://schemas.microsoft.com/office/drawing/2014/main" id="{CD7E6A4D-1F3D-4DC5-BEE8-B6F24A91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9" name="grid-v-6">
            <a:extLst xmlns:a="http://schemas.openxmlformats.org/drawingml/2006/main">
              <a:ext uri="{FF2B5EF4-FFF2-40B4-BE49-F238E27FC236}">
                <a16:creationId xmlns:a16="http://schemas.microsoft.com/office/drawing/2014/main" id="{516EFB90-D48D-4A7A-9F69-2ADA4771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0" name="grid-v-7">
            <a:extLst xmlns:a="http://schemas.openxmlformats.org/drawingml/2006/main">
              <a:ext uri="{FF2B5EF4-FFF2-40B4-BE49-F238E27FC236}">
                <a16:creationId xmlns:a16="http://schemas.microsoft.com/office/drawing/2014/main" id="{F2DB5960-DB9D-4293-9C94-7DEBC9FA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1" name="grid-v-8">
            <a:extLst xmlns:a="http://schemas.openxmlformats.org/drawingml/2006/main">
              <a:ext uri="{FF2B5EF4-FFF2-40B4-BE49-F238E27FC236}">
                <a16:creationId xmlns:a16="http://schemas.microsoft.com/office/drawing/2014/main" id="{67DD89D9-5E9E-44AD-8F52-6F6ECD70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2" name="grid-v-9">
            <a:extLst xmlns:a="http://schemas.openxmlformats.org/drawingml/2006/main">
              <a:ext uri="{FF2B5EF4-FFF2-40B4-BE49-F238E27FC236}">
                <a16:creationId xmlns:a16="http://schemas.microsoft.com/office/drawing/2014/main" id="{06B95FF0-1CE5-4E3C-BEBF-633C2875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3" name="grid-h-0">
            <a:extLst xmlns:a="http://schemas.openxmlformats.org/drawingml/2006/main">
              <a:ext uri="{FF2B5EF4-FFF2-40B4-BE49-F238E27FC236}">
                <a16:creationId xmlns:a16="http://schemas.microsoft.com/office/drawing/2014/main" id="{524E4626-EF68-4548-8E20-39BF777E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4" name="grid-h-1">
            <a:extLst xmlns:a="http://schemas.openxmlformats.org/drawingml/2006/main">
              <a:ext uri="{FF2B5EF4-FFF2-40B4-BE49-F238E27FC236}">
                <a16:creationId xmlns:a16="http://schemas.microsoft.com/office/drawing/2014/main" id="{D33C6946-B6C2-4927-80AD-DD897DDC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5" name="grid-h-2">
            <a:extLst xmlns:a="http://schemas.openxmlformats.org/drawingml/2006/main">
              <a:ext uri="{FF2B5EF4-FFF2-40B4-BE49-F238E27FC236}">
                <a16:creationId xmlns:a16="http://schemas.microsoft.com/office/drawing/2014/main" id="{5E6C62F0-18C0-4837-9FF2-4F6E8528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748E3B7A-C14E-41B5-A314-A46D8350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7" name="grid-h-4">
            <a:extLst xmlns:a="http://schemas.openxmlformats.org/drawingml/2006/main">
              <a:ext uri="{FF2B5EF4-FFF2-40B4-BE49-F238E27FC236}">
                <a16:creationId xmlns:a16="http://schemas.microsoft.com/office/drawing/2014/main" id="{64980EAA-3110-4505-814B-5B951122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8" name="accent-glow">
            <a:extLst xmlns:a="http://schemas.openxmlformats.org/drawingml/2006/main">
              <a:ext uri="{FF2B5EF4-FFF2-40B4-BE49-F238E27FC236}">
                <a16:creationId xmlns:a16="http://schemas.microsoft.com/office/drawing/2014/main" id="{C09FF33F-95EC-40AC-BEEC-E136EF7F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42875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A70"/>
          </a:solidFill>
          <a:ln xmlns:a="http://schemas.openxmlformats.org/drawingml/2006/main" w="0">
            <a:solidFill>
              <a:srgbClr val="0A5A70"/>
            </a:solidFill>
            <a:prstDash val="solid"/>
          </a:ln>
        </p:spPr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B1C7085-AF95-4B72-BDCC-FCA5D735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E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E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3847FD64-7EEC-47ED-B1BC-00BAA408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6D7FF"/>
                </a:solidFill>
                <a:latin typeface="Aptos"/>
                <a:ea typeface="Aptos"/>
                <a:cs typeface="Aptos"/>
              </a:rPr>
              <a:t>NON-TECHNICAL CO-FOUNDER PITCH</a:t>
            </a:r>
          </a:p>
        </p:txBody>
      </p:sp>
      <p:sp>
        <p:nvSpPr>
          <p:cNvPr id="21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44D9000-3DA6-4885-98FB-99E08CAA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Sulcus OS</a:t>
            </a:r>
          </a:p>
        </p:txBody>
      </p:sp>
      <p:sp>
        <p:nvSpPr>
          <p:cNvPr id="2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0F706F8-A425-41A0-A277-B6C6B447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The Operating Layer for AI Agents</a:t>
            </a:r>
          </a:p>
        </p:txBody>
      </p:sp>
      <p:sp>
        <p:nvSpPr>
          <p:cNvPr id="23" name="cover-message">
            <a:extLst xmlns:a="http://schemas.openxmlformats.org/drawingml/2006/main">
              <a:ext uri="{FF2B5EF4-FFF2-40B4-BE49-F238E27FC236}">
                <a16:creationId xmlns:a16="http://schemas.microsoft.com/office/drawing/2014/main" id="{65AC84E6-8E65-41A4-9D00-CBD5EBBC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Build the runtime layer for the next generation of agentic AI.</a:t>
            </a:r>
          </a:p>
        </p:txBody>
      </p:sp>
      <p:sp>
        <p:nvSpPr>
          <p:cNvPr id="24" name="card">
            <a:extLst xmlns:a="http://schemas.openxmlformats.org/drawingml/2006/main">
              <a:ext uri="{FF2B5EF4-FFF2-40B4-BE49-F238E27FC236}">
                <a16:creationId xmlns:a16="http://schemas.microsoft.com/office/drawing/2014/main" id="{41F8E094-FBC6-4E07-B5C9-895CA421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20002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36D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5" name="card-label">
            <a:extLst xmlns:a="http://schemas.openxmlformats.org/drawingml/2006/main">
              <a:ext uri="{FF2B5EF4-FFF2-40B4-BE49-F238E27FC236}">
                <a16:creationId xmlns:a16="http://schemas.microsoft.com/office/drawing/2014/main" id="{B48E64A1-30E2-4C1D-ADD5-3BFB275D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2887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Sulcus OS</a:t>
            </a:r>
          </a:p>
        </p:txBody>
      </p:sp>
      <p:sp>
        <p:nvSpPr>
          <p:cNvPr id="26" name="card">
            <a:extLst xmlns:a="http://schemas.openxmlformats.org/drawingml/2006/main">
              <a:ext uri="{FF2B5EF4-FFF2-40B4-BE49-F238E27FC236}">
                <a16:creationId xmlns:a16="http://schemas.microsoft.com/office/drawing/2014/main" id="{0E300A49-40DF-407C-9C9E-1C88574E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14400"/>
            <a:ext cx="11430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121D2E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27" name="card-label">
            <a:extLst xmlns:a="http://schemas.openxmlformats.org/drawingml/2006/main">
              <a:ext uri="{FF2B5EF4-FFF2-40B4-BE49-F238E27FC236}">
                <a16:creationId xmlns:a16="http://schemas.microsoft.com/office/drawing/2014/main" id="{408A74B3-23AB-4FB6-8D0C-AAFE5FBE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0477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28" name="card">
            <a:extLst xmlns:a="http://schemas.openxmlformats.org/drawingml/2006/main">
              <a:ext uri="{FF2B5EF4-FFF2-40B4-BE49-F238E27FC236}">
                <a16:creationId xmlns:a16="http://schemas.microsoft.com/office/drawing/2014/main" id="{9BFFE840-C3E2-4FA3-9554-C4C02313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066800"/>
            <a:ext cx="11811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121D2E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29" name="card-label">
            <a:extLst xmlns:a="http://schemas.openxmlformats.org/drawingml/2006/main">
              <a:ext uri="{FF2B5EF4-FFF2-40B4-BE49-F238E27FC236}">
                <a16:creationId xmlns:a16="http://schemas.microsoft.com/office/drawing/2014/main" id="{162A646F-B889-4F08-BCDC-D0A006C7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2001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30" name="card">
            <a:extLst xmlns:a="http://schemas.openxmlformats.org/drawingml/2006/main">
              <a:ext uri="{FF2B5EF4-FFF2-40B4-BE49-F238E27FC236}">
                <a16:creationId xmlns:a16="http://schemas.microsoft.com/office/drawing/2014/main" id="{06C5B7F5-DFAC-44E5-A79A-79309DE8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24300"/>
            <a:ext cx="12573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121D2E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1" name="card-label">
            <a:extLst xmlns:a="http://schemas.openxmlformats.org/drawingml/2006/main">
              <a:ext uri="{FF2B5EF4-FFF2-40B4-BE49-F238E27FC236}">
                <a16:creationId xmlns:a16="http://schemas.microsoft.com/office/drawing/2014/main" id="{D6B1349A-9951-41D8-A121-B344AE6B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576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32" name="card">
            <a:extLst xmlns:a="http://schemas.openxmlformats.org/drawingml/2006/main">
              <a:ext uri="{FF2B5EF4-FFF2-40B4-BE49-F238E27FC236}">
                <a16:creationId xmlns:a16="http://schemas.microsoft.com/office/drawing/2014/main" id="{14330B94-15C5-4BD1-8607-9401A03C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29050"/>
            <a:ext cx="12573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121D2E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3" name="card-label">
            <a:extLst xmlns:a="http://schemas.openxmlformats.org/drawingml/2006/main">
              <a:ext uri="{FF2B5EF4-FFF2-40B4-BE49-F238E27FC236}">
                <a16:creationId xmlns:a16="http://schemas.microsoft.com/office/drawing/2014/main" id="{C5D4C2A3-0B99-49E5-AED8-98D5C3C4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9624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cxnSp>
        <p:nvCxnSpPr>
          <p:cNvPr id="71" name=""/>
          <p:cNvCxnSpPr>
            <a:stCxn xmlns:a="http://schemas.openxmlformats.org/drawingml/2006/main" id="26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7810500" y="1190625"/>
            <a:ext cx="17145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cxnSp>
        <p:nvCxnSpPr>
          <p:cNvPr id="72" name=""/>
          <p:cNvCxnSpPr>
            <a:stCxn xmlns:a="http://schemas.openxmlformats.org/drawingml/2006/main" id="28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7810500" y="1343025"/>
            <a:ext cx="3409950" cy="1228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cxnSp>
        <p:nvCxnSpPr>
          <p:cNvPr id="73" name=""/>
          <p:cNvCxnSpPr>
            <a:stCxn xmlns:a="http://schemas.openxmlformats.org/drawingml/2006/main" id="3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7753350" y="2571750"/>
            <a:ext cx="57150" cy="1628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cxnSp>
        <p:nvCxnSpPr>
          <p:cNvPr id="74" name=""/>
          <p:cNvCxnSpPr>
            <a:stCxn xmlns:a="http://schemas.openxmlformats.org/drawingml/2006/main" id="3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 flipV="1">
            <a:off x="7810500" y="2571750"/>
            <a:ext cx="3543300" cy="1533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3435773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206F1B1-1EB9-4087-866D-47641B90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2" name="bg-base">
            <a:extLst xmlns:a="http://schemas.openxmlformats.org/drawingml/2006/main">
              <a:ext uri="{FF2B5EF4-FFF2-40B4-BE49-F238E27FC236}">
                <a16:creationId xmlns:a16="http://schemas.microsoft.com/office/drawing/2014/main" id="{40B27D07-301A-40B6-BB66-18525510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4D0C4231-B0EF-438D-B263-7919CD15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4" name="grid-v-1">
            <a:extLst xmlns:a="http://schemas.openxmlformats.org/drawingml/2006/main">
              <a:ext uri="{FF2B5EF4-FFF2-40B4-BE49-F238E27FC236}">
                <a16:creationId xmlns:a16="http://schemas.microsoft.com/office/drawing/2014/main" id="{93EC7771-BAB3-4342-8191-06026B74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5" name="grid-v-2">
            <a:extLst xmlns:a="http://schemas.openxmlformats.org/drawingml/2006/main">
              <a:ext uri="{FF2B5EF4-FFF2-40B4-BE49-F238E27FC236}">
                <a16:creationId xmlns:a16="http://schemas.microsoft.com/office/drawing/2014/main" id="{CB0DFA6E-EFDE-4783-842F-7F8F5BA9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6" name="grid-v-3">
            <a:extLst xmlns:a="http://schemas.openxmlformats.org/drawingml/2006/main">
              <a:ext uri="{FF2B5EF4-FFF2-40B4-BE49-F238E27FC236}">
                <a16:creationId xmlns:a16="http://schemas.microsoft.com/office/drawing/2014/main" id="{450D2F4E-6F19-4817-822F-EAF71785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7" name="grid-v-4">
            <a:extLst xmlns:a="http://schemas.openxmlformats.org/drawingml/2006/main">
              <a:ext uri="{FF2B5EF4-FFF2-40B4-BE49-F238E27FC236}">
                <a16:creationId xmlns:a16="http://schemas.microsoft.com/office/drawing/2014/main" id="{45906357-E223-4AFC-889A-4F1FC9F2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8" name="grid-v-5">
            <a:extLst xmlns:a="http://schemas.openxmlformats.org/drawingml/2006/main">
              <a:ext uri="{FF2B5EF4-FFF2-40B4-BE49-F238E27FC236}">
                <a16:creationId xmlns:a16="http://schemas.microsoft.com/office/drawing/2014/main" id="{2D9CF93C-0800-41DB-9CA1-EBC4BF02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9" name="grid-v-6">
            <a:extLst xmlns:a="http://schemas.openxmlformats.org/drawingml/2006/main">
              <a:ext uri="{FF2B5EF4-FFF2-40B4-BE49-F238E27FC236}">
                <a16:creationId xmlns:a16="http://schemas.microsoft.com/office/drawing/2014/main" id="{57504D31-7395-4851-929C-2DE0BC87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0" name="grid-v-7">
            <a:extLst xmlns:a="http://schemas.openxmlformats.org/drawingml/2006/main">
              <a:ext uri="{FF2B5EF4-FFF2-40B4-BE49-F238E27FC236}">
                <a16:creationId xmlns:a16="http://schemas.microsoft.com/office/drawing/2014/main" id="{AA544669-EA08-43F2-A033-98285959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1" name="grid-v-8">
            <a:extLst xmlns:a="http://schemas.openxmlformats.org/drawingml/2006/main">
              <a:ext uri="{FF2B5EF4-FFF2-40B4-BE49-F238E27FC236}">
                <a16:creationId xmlns:a16="http://schemas.microsoft.com/office/drawing/2014/main" id="{AA7BF4A7-7D78-4413-B4B9-E53B7570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2" name="grid-v-9">
            <a:extLst xmlns:a="http://schemas.openxmlformats.org/drawingml/2006/main">
              <a:ext uri="{FF2B5EF4-FFF2-40B4-BE49-F238E27FC236}">
                <a16:creationId xmlns:a16="http://schemas.microsoft.com/office/drawing/2014/main" id="{0BCF955C-77CB-4672-89C3-89F41F35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3" name="grid-h-0">
            <a:extLst xmlns:a="http://schemas.openxmlformats.org/drawingml/2006/main">
              <a:ext uri="{FF2B5EF4-FFF2-40B4-BE49-F238E27FC236}">
                <a16:creationId xmlns:a16="http://schemas.microsoft.com/office/drawing/2014/main" id="{88D18BA9-0A7A-4787-8451-62E7A09C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4" name="grid-h-1">
            <a:extLst xmlns:a="http://schemas.openxmlformats.org/drawingml/2006/main">
              <a:ext uri="{FF2B5EF4-FFF2-40B4-BE49-F238E27FC236}">
                <a16:creationId xmlns:a16="http://schemas.microsoft.com/office/drawing/2014/main" id="{7C1116ED-4673-4525-84AB-528E4AAA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5" name="grid-h-2">
            <a:extLst xmlns:a="http://schemas.openxmlformats.org/drawingml/2006/main">
              <a:ext uri="{FF2B5EF4-FFF2-40B4-BE49-F238E27FC236}">
                <a16:creationId xmlns:a16="http://schemas.microsoft.com/office/drawing/2014/main" id="{6B19838B-A177-4148-B5B6-C5012B67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EE6F082E-61D0-4A57-BE4A-D81DFA6F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7" name="grid-h-4">
            <a:extLst xmlns:a="http://schemas.openxmlformats.org/drawingml/2006/main">
              <a:ext uri="{FF2B5EF4-FFF2-40B4-BE49-F238E27FC236}">
                <a16:creationId xmlns:a16="http://schemas.microsoft.com/office/drawing/2014/main" id="{92D8AEB5-E51C-44F1-91D3-AD10DEB0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8" name="accent-glow">
            <a:extLst xmlns:a="http://schemas.openxmlformats.org/drawingml/2006/main">
              <a:ext uri="{FF2B5EF4-FFF2-40B4-BE49-F238E27FC236}">
                <a16:creationId xmlns:a16="http://schemas.microsoft.com/office/drawing/2014/main" id="{6F318215-D3CB-4A58-BB95-0C3A1FAE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42875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A70"/>
          </a:solidFill>
          <a:ln xmlns:a="http://schemas.openxmlformats.org/drawingml/2006/main" w="0">
            <a:solidFill>
              <a:srgbClr val="0A5A70"/>
            </a:solidFill>
            <a:prstDash val="solid"/>
          </a:ln>
        </p:spPr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96B371B-D4D9-4916-B7A5-6526E44A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E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E9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0" name="brand">
            <a:extLst xmlns:a="http://schemas.openxmlformats.org/drawingml/2006/main">
              <a:ext uri="{FF2B5EF4-FFF2-40B4-BE49-F238E27FC236}">
                <a16:creationId xmlns:a16="http://schemas.microsoft.com/office/drawing/2014/main" id="{28A2C17D-BAD1-4F47-A9FC-0FEA034B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6D7FF"/>
                </a:solidFill>
                <a:latin typeface="Aptos"/>
                <a:ea typeface="Aptos"/>
                <a:cs typeface="Aptos"/>
              </a:rPr>
              <a:t>SULCUS OS</a:t>
            </a:r>
          </a:p>
        </p:txBody>
      </p:sp>
      <p:sp>
        <p:nvSpPr>
          <p:cNvPr id="21" name="brand-rule">
            <a:extLst xmlns:a="http://schemas.openxmlformats.org/drawingml/2006/main">
              <a:ext uri="{FF2B5EF4-FFF2-40B4-BE49-F238E27FC236}">
                <a16:creationId xmlns:a16="http://schemas.microsoft.com/office/drawing/2014/main" id="{A8407217-2742-43C8-BF37-7762C6C8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D7FF"/>
            </a:solidFill>
            <a:prstDash val="solid"/>
          </a:ln>
        </p:spPr>
      </p:sp>
      <p:sp>
        <p:nvSpPr>
          <p:cNvPr id="22" name="title">
            <a:extLst xmlns:a="http://schemas.openxmlformats.org/drawingml/2006/main">
              <a:ext uri="{FF2B5EF4-FFF2-40B4-BE49-F238E27FC236}">
                <a16:creationId xmlns:a16="http://schemas.microsoft.com/office/drawing/2014/main" id="{46C71337-0E59-40CC-A603-7E9FCDE7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The Shift</a:t>
            </a:r>
          </a:p>
        </p:txBody>
      </p:sp>
      <p:sp>
        <p:nvSpPr>
          <p:cNvPr id="23" name="message">
            <a:extLst xmlns:a="http://schemas.openxmlformats.org/drawingml/2006/main">
              <a:ext uri="{FF2B5EF4-FFF2-40B4-BE49-F238E27FC236}">
                <a16:creationId xmlns:a16="http://schemas.microsoft.com/office/drawing/2014/main" id="{D7B9513E-1B34-4669-ABF4-C54E10BE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AI is moving from chatbots to autonomous agents.</a:t>
            </a:r>
          </a:p>
        </p:txBody>
      </p:sp>
      <p:sp>
        <p:nvSpPr>
          <p:cNvPr id="24" name="card">
            <a:extLst xmlns:a="http://schemas.openxmlformats.org/drawingml/2006/main">
              <a:ext uri="{FF2B5EF4-FFF2-40B4-BE49-F238E27FC236}">
                <a16:creationId xmlns:a16="http://schemas.microsoft.com/office/drawing/2014/main" id="{D56CC1C5-66CE-4C43-8CB9-B8693931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18097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25" name="card-label">
            <a:extLst xmlns:a="http://schemas.openxmlformats.org/drawingml/2006/main">
              <a:ext uri="{FF2B5EF4-FFF2-40B4-BE49-F238E27FC236}">
                <a16:creationId xmlns:a16="http://schemas.microsoft.com/office/drawing/2014/main" id="{6691BCE2-6B7C-4AC2-8C4E-1956363A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957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Chatbots</a:t>
            </a:r>
          </a:p>
        </p:txBody>
      </p:sp>
      <p:sp>
        <p:nvSpPr>
          <p:cNvPr id="26" name="evo-caption-0">
            <a:extLst xmlns:a="http://schemas.openxmlformats.org/drawingml/2006/main">
              <a:ext uri="{FF2B5EF4-FFF2-40B4-BE49-F238E27FC236}">
                <a16:creationId xmlns:a16="http://schemas.microsoft.com/office/drawing/2014/main" id="{4E74ED55-67BF-48C5-AACD-7DC2F170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Plan multi-step work</a:t>
            </a:r>
          </a:p>
        </p:txBody>
      </p:sp>
      <p:sp>
        <p:nvSpPr>
          <p:cNvPr id="27" name="card">
            <a:extLst xmlns:a="http://schemas.openxmlformats.org/drawingml/2006/main">
              <a:ext uri="{FF2B5EF4-FFF2-40B4-BE49-F238E27FC236}">
                <a16:creationId xmlns:a16="http://schemas.microsoft.com/office/drawing/2014/main" id="{282A6E92-0EC5-4F2E-BE4A-1A77B5BF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90900"/>
            <a:ext cx="18097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28" name="card-label">
            <a:extLst xmlns:a="http://schemas.openxmlformats.org/drawingml/2006/main">
              <a:ext uri="{FF2B5EF4-FFF2-40B4-BE49-F238E27FC236}">
                <a16:creationId xmlns:a16="http://schemas.microsoft.com/office/drawing/2014/main" id="{32D7D844-AB5A-471F-8086-409ACB44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957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Assistants</a:t>
            </a:r>
          </a:p>
        </p:txBody>
      </p:sp>
      <p:sp>
        <p:nvSpPr>
          <p:cNvPr id="29" name="evo-caption-1">
            <a:extLst xmlns:a="http://schemas.openxmlformats.org/drawingml/2006/main">
              <a:ext uri="{FF2B5EF4-FFF2-40B4-BE49-F238E27FC236}">
                <a16:creationId xmlns:a16="http://schemas.microsoft.com/office/drawing/2014/main" id="{04867EDA-6C03-4A24-B9B6-83B82B9A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196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Use tools and APIs</a:t>
            </a:r>
          </a:p>
        </p:txBody>
      </p:sp>
      <p:cxnSp>
        <p:nvCxnSpPr>
          <p:cNvPr id="68" name=""/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2743200" y="383857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sp>
        <p:nvSpPr>
          <p:cNvPr id="31" name="card">
            <a:extLst xmlns:a="http://schemas.openxmlformats.org/drawingml/2006/main">
              <a:ext uri="{FF2B5EF4-FFF2-40B4-BE49-F238E27FC236}">
                <a16:creationId xmlns:a16="http://schemas.microsoft.com/office/drawing/2014/main" id="{1C43DEB2-CC15-44EC-9B43-15570881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90900"/>
            <a:ext cx="18097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2" name="card-label">
            <a:extLst xmlns:a="http://schemas.openxmlformats.org/drawingml/2006/main">
              <a:ext uri="{FF2B5EF4-FFF2-40B4-BE49-F238E27FC236}">
                <a16:creationId xmlns:a16="http://schemas.microsoft.com/office/drawing/2014/main" id="{CACA760E-1B95-4DCC-B28F-CDBD9A90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Tool agents</a:t>
            </a:r>
          </a:p>
        </p:txBody>
      </p:sp>
      <p:sp>
        <p:nvSpPr>
          <p:cNvPr id="33" name="evo-caption-2">
            <a:extLst xmlns:a="http://schemas.openxmlformats.org/drawingml/2006/main">
              <a:ext uri="{FF2B5EF4-FFF2-40B4-BE49-F238E27FC236}">
                <a16:creationId xmlns:a16="http://schemas.microsoft.com/office/drawing/2014/main" id="{5AE7342C-AA9A-4248-8B4D-75EB9C80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196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Collaborate across tasks</a:t>
            </a:r>
          </a:p>
        </p:txBody>
      </p:sp>
      <p:cxnSp>
        <p:nvCxnSpPr>
          <p:cNvPr id="72" name=""/>
          <p:cNvCxnSpPr>
            <a:stCxn xmlns:a="http://schemas.openxmlformats.org/drawingml/2006/main" id="27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5353050" y="383857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sp>
        <p:nvSpPr>
          <p:cNvPr id="35" name="card">
            <a:extLst xmlns:a="http://schemas.openxmlformats.org/drawingml/2006/main">
              <a:ext uri="{FF2B5EF4-FFF2-40B4-BE49-F238E27FC236}">
                <a16:creationId xmlns:a16="http://schemas.microsoft.com/office/drawing/2014/main" id="{6747B4C6-A6B6-4569-954C-E1DA235F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90900"/>
            <a:ext cx="18097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36D7FF"/>
            </a:solidFill>
            <a:prstDash val="solid"/>
          </a:ln>
        </p:spPr>
      </p:sp>
      <p:sp>
        <p:nvSpPr>
          <p:cNvPr id="36" name="card-label">
            <a:extLst xmlns:a="http://schemas.openxmlformats.org/drawingml/2006/main">
              <a:ext uri="{FF2B5EF4-FFF2-40B4-BE49-F238E27FC236}">
                <a16:creationId xmlns:a16="http://schemas.microsoft.com/office/drawing/2014/main" id="{D85496AA-E59D-437E-8048-AAD5D34B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957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Agent systems</a:t>
            </a:r>
          </a:p>
        </p:txBody>
      </p:sp>
      <p:sp>
        <p:nvSpPr>
          <p:cNvPr id="37" name="evo-caption-3">
            <a:extLst xmlns:a="http://schemas.openxmlformats.org/drawingml/2006/main">
              <a:ext uri="{FF2B5EF4-FFF2-40B4-BE49-F238E27FC236}">
                <a16:creationId xmlns:a16="http://schemas.microsoft.com/office/drawing/2014/main" id="{6F948AC8-CC55-442B-8F91-BEE4686B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196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Execute real workflows</a:t>
            </a:r>
          </a:p>
        </p:txBody>
      </p:sp>
      <p:cxnSp>
        <p:nvCxnSpPr>
          <p:cNvPr id="76" name=""/>
          <p:cNvCxnSpPr>
            <a:stCxn xmlns:a="http://schemas.openxmlformats.org/drawingml/2006/main" id="31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7962900" y="383857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4586228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7F58A3E-C8C7-4A58-91C2-5C03F6A5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2" name="bg-base">
            <a:extLst xmlns:a="http://schemas.openxmlformats.org/drawingml/2006/main">
              <a:ext uri="{FF2B5EF4-FFF2-40B4-BE49-F238E27FC236}">
                <a16:creationId xmlns:a16="http://schemas.microsoft.com/office/drawing/2014/main" id="{F5E210BF-F283-4B2C-A5C2-884A6795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05F01D83-4F2C-4A37-A097-DFB28601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4" name="grid-v-1">
            <a:extLst xmlns:a="http://schemas.openxmlformats.org/drawingml/2006/main">
              <a:ext uri="{FF2B5EF4-FFF2-40B4-BE49-F238E27FC236}">
                <a16:creationId xmlns:a16="http://schemas.microsoft.com/office/drawing/2014/main" id="{0564F17B-C858-4FFB-A67E-2C831EC2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5" name="grid-v-2">
            <a:extLst xmlns:a="http://schemas.openxmlformats.org/drawingml/2006/main">
              <a:ext uri="{FF2B5EF4-FFF2-40B4-BE49-F238E27FC236}">
                <a16:creationId xmlns:a16="http://schemas.microsoft.com/office/drawing/2014/main" id="{FB74949C-09E4-4E88-A5F5-7EA9431E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6" name="grid-v-3">
            <a:extLst xmlns:a="http://schemas.openxmlformats.org/drawingml/2006/main">
              <a:ext uri="{FF2B5EF4-FFF2-40B4-BE49-F238E27FC236}">
                <a16:creationId xmlns:a16="http://schemas.microsoft.com/office/drawing/2014/main" id="{81FB1D28-1A01-41B9-BE56-CF838B78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7" name="grid-v-4">
            <a:extLst xmlns:a="http://schemas.openxmlformats.org/drawingml/2006/main">
              <a:ext uri="{FF2B5EF4-FFF2-40B4-BE49-F238E27FC236}">
                <a16:creationId xmlns:a16="http://schemas.microsoft.com/office/drawing/2014/main" id="{E3985F61-B23F-4C35-853F-30F48113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8" name="grid-v-5">
            <a:extLst xmlns:a="http://schemas.openxmlformats.org/drawingml/2006/main">
              <a:ext uri="{FF2B5EF4-FFF2-40B4-BE49-F238E27FC236}">
                <a16:creationId xmlns:a16="http://schemas.microsoft.com/office/drawing/2014/main" id="{B11650A0-2C43-4F0B-96C7-D45883F6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9" name="grid-v-6">
            <a:extLst xmlns:a="http://schemas.openxmlformats.org/drawingml/2006/main">
              <a:ext uri="{FF2B5EF4-FFF2-40B4-BE49-F238E27FC236}">
                <a16:creationId xmlns:a16="http://schemas.microsoft.com/office/drawing/2014/main" id="{6423BB01-3896-4C34-807D-4B783FF0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0" name="grid-v-7">
            <a:extLst xmlns:a="http://schemas.openxmlformats.org/drawingml/2006/main">
              <a:ext uri="{FF2B5EF4-FFF2-40B4-BE49-F238E27FC236}">
                <a16:creationId xmlns:a16="http://schemas.microsoft.com/office/drawing/2014/main" id="{97158691-D6C5-4B90-B3E4-148B5E15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1" name="grid-v-8">
            <a:extLst xmlns:a="http://schemas.openxmlformats.org/drawingml/2006/main">
              <a:ext uri="{FF2B5EF4-FFF2-40B4-BE49-F238E27FC236}">
                <a16:creationId xmlns:a16="http://schemas.microsoft.com/office/drawing/2014/main" id="{DC5BE425-578A-4333-9472-86B14699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2" name="grid-v-9">
            <a:extLst xmlns:a="http://schemas.openxmlformats.org/drawingml/2006/main">
              <a:ext uri="{FF2B5EF4-FFF2-40B4-BE49-F238E27FC236}">
                <a16:creationId xmlns:a16="http://schemas.microsoft.com/office/drawing/2014/main" id="{249EBDB6-0E3C-4BC1-AA75-9729EE31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3" name="grid-h-0">
            <a:extLst xmlns:a="http://schemas.openxmlformats.org/drawingml/2006/main">
              <a:ext uri="{FF2B5EF4-FFF2-40B4-BE49-F238E27FC236}">
                <a16:creationId xmlns:a16="http://schemas.microsoft.com/office/drawing/2014/main" id="{ADC842AB-DDCD-4600-88CE-F35C70E2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4" name="grid-h-1">
            <a:extLst xmlns:a="http://schemas.openxmlformats.org/drawingml/2006/main">
              <a:ext uri="{FF2B5EF4-FFF2-40B4-BE49-F238E27FC236}">
                <a16:creationId xmlns:a16="http://schemas.microsoft.com/office/drawing/2014/main" id="{DA299B63-B804-4C4A-8C03-8E192A72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5" name="grid-h-2">
            <a:extLst xmlns:a="http://schemas.openxmlformats.org/drawingml/2006/main">
              <a:ext uri="{FF2B5EF4-FFF2-40B4-BE49-F238E27FC236}">
                <a16:creationId xmlns:a16="http://schemas.microsoft.com/office/drawing/2014/main" id="{F7CCA1F1-1C84-4506-B163-6BE19CDA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47D75A4A-D8D7-461E-9426-CC95889D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7" name="grid-h-4">
            <a:extLst xmlns:a="http://schemas.openxmlformats.org/drawingml/2006/main">
              <a:ext uri="{FF2B5EF4-FFF2-40B4-BE49-F238E27FC236}">
                <a16:creationId xmlns:a16="http://schemas.microsoft.com/office/drawing/2014/main" id="{FA4453E7-5DAB-473E-ABB0-A0D05E3E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8" name="accent-glow">
            <a:extLst xmlns:a="http://schemas.openxmlformats.org/drawingml/2006/main">
              <a:ext uri="{FF2B5EF4-FFF2-40B4-BE49-F238E27FC236}">
                <a16:creationId xmlns:a16="http://schemas.microsoft.com/office/drawing/2014/main" id="{C8E4EE87-AC93-4EA7-9557-654CAB7C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42875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A70"/>
          </a:solidFill>
          <a:ln xmlns:a="http://schemas.openxmlformats.org/drawingml/2006/main" w="0">
            <a:solidFill>
              <a:srgbClr val="0A5A70"/>
            </a:solidFill>
            <a:prstDash val="solid"/>
          </a:ln>
        </p:spPr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7878890-82BE-4F2E-AF3E-99330EAC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E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E9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brand">
            <a:extLst xmlns:a="http://schemas.openxmlformats.org/drawingml/2006/main">
              <a:ext uri="{FF2B5EF4-FFF2-40B4-BE49-F238E27FC236}">
                <a16:creationId xmlns:a16="http://schemas.microsoft.com/office/drawing/2014/main" id="{B9A67A3C-A0C9-4C5A-A76A-0A60E72D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6D7FF"/>
                </a:solidFill>
                <a:latin typeface="Aptos"/>
                <a:ea typeface="Aptos"/>
                <a:cs typeface="Aptos"/>
              </a:rPr>
              <a:t>SULCUS OS</a:t>
            </a:r>
          </a:p>
        </p:txBody>
      </p:sp>
      <p:sp>
        <p:nvSpPr>
          <p:cNvPr id="21" name="brand-rule">
            <a:extLst xmlns:a="http://schemas.openxmlformats.org/drawingml/2006/main">
              <a:ext uri="{FF2B5EF4-FFF2-40B4-BE49-F238E27FC236}">
                <a16:creationId xmlns:a16="http://schemas.microsoft.com/office/drawing/2014/main" id="{336429B6-AA16-4D12-98BA-743C4EE5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D7FF"/>
            </a:solidFill>
            <a:prstDash val="solid"/>
          </a:ln>
        </p:spPr>
      </p:sp>
      <p:sp>
        <p:nvSpPr>
          <p:cNvPr id="22" name="title">
            <a:extLst xmlns:a="http://schemas.openxmlformats.org/drawingml/2006/main">
              <a:ext uri="{FF2B5EF4-FFF2-40B4-BE49-F238E27FC236}">
                <a16:creationId xmlns:a16="http://schemas.microsoft.com/office/drawing/2014/main" id="{0DFF4324-8552-4F89-9CF0-C0C267B6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The Problem</a:t>
            </a:r>
          </a:p>
        </p:txBody>
      </p:sp>
      <p:sp>
        <p:nvSpPr>
          <p:cNvPr id="23" name="message">
            <a:extLst xmlns:a="http://schemas.openxmlformats.org/drawingml/2006/main">
              <a:ext uri="{FF2B5EF4-FFF2-40B4-BE49-F238E27FC236}">
                <a16:creationId xmlns:a16="http://schemas.microsoft.com/office/drawing/2014/main" id="{BC7AC529-D896-415A-9E28-D2BAD1F9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Agent systems are still fragile, opaque, and difficult to trust.</a:t>
            </a:r>
          </a:p>
        </p:txBody>
      </p:sp>
      <p:sp>
        <p:nvSpPr>
          <p:cNvPr id="24" name="dot-0">
            <a:extLst xmlns:a="http://schemas.openxmlformats.org/drawingml/2006/main">
              <a:ext uri="{FF2B5EF4-FFF2-40B4-BE49-F238E27FC236}">
                <a16:creationId xmlns:a16="http://schemas.microsoft.com/office/drawing/2014/main" id="{C023E997-174A-48AF-952F-1093EC7E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24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5" name="bullet-0">
            <a:extLst xmlns:a="http://schemas.openxmlformats.org/drawingml/2006/main">
              <a:ext uri="{FF2B5EF4-FFF2-40B4-BE49-F238E27FC236}">
                <a16:creationId xmlns:a16="http://schemas.microsoft.com/office/drawing/2014/main" id="{49C8380F-5E48-4F92-B8A7-F976946B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Hard to observe what agents are doing</a:t>
            </a:r>
          </a:p>
        </p:txBody>
      </p:sp>
      <p:sp>
        <p:nvSpPr>
          <p:cNvPr id="26" name="dot-1">
            <a:extLst xmlns:a="http://schemas.openxmlformats.org/drawingml/2006/main">
              <a:ext uri="{FF2B5EF4-FFF2-40B4-BE49-F238E27FC236}">
                <a16:creationId xmlns:a16="http://schemas.microsoft.com/office/drawing/2014/main" id="{322EFB2A-7935-4A17-BA3A-2BECEC6A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0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7" name="bullet-1">
            <a:extLst xmlns:a="http://schemas.openxmlformats.org/drawingml/2006/main">
              <a:ext uri="{FF2B5EF4-FFF2-40B4-BE49-F238E27FC236}">
                <a16:creationId xmlns:a16="http://schemas.microsoft.com/office/drawing/2014/main" id="{D03C3D09-E5DD-4462-940E-1DD42012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Hard to coordinate multiple agents</a:t>
            </a:r>
          </a:p>
        </p:txBody>
      </p:sp>
      <p:sp>
        <p:nvSpPr>
          <p:cNvPr id="28" name="dot-2">
            <a:extLst xmlns:a="http://schemas.openxmlformats.org/drawingml/2006/main">
              <a:ext uri="{FF2B5EF4-FFF2-40B4-BE49-F238E27FC236}">
                <a16:creationId xmlns:a16="http://schemas.microsoft.com/office/drawing/2014/main" id="{C127A530-03CF-4222-91F7-5675F5A8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9" name="bullet-2">
            <a:extLst xmlns:a="http://schemas.openxmlformats.org/drawingml/2006/main">
              <a:ext uri="{FF2B5EF4-FFF2-40B4-BE49-F238E27FC236}">
                <a16:creationId xmlns:a16="http://schemas.microsoft.com/office/drawing/2014/main" id="{87A42BAC-97C9-457A-B4E0-93FE5959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00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Failures are difficult to debug</a:t>
            </a:r>
          </a:p>
        </p:txBody>
      </p:sp>
      <p:sp>
        <p:nvSpPr>
          <p:cNvPr id="30" name="dot-3">
            <a:extLst xmlns:a="http://schemas.openxmlformats.org/drawingml/2006/main">
              <a:ext uri="{FF2B5EF4-FFF2-40B4-BE49-F238E27FC236}">
                <a16:creationId xmlns:a16="http://schemas.microsoft.com/office/drawing/2014/main" id="{128F9E8C-A46A-43A0-92BA-F4DBD145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52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31" name="bullet-3">
            <a:extLst xmlns:a="http://schemas.openxmlformats.org/drawingml/2006/main">
              <a:ext uri="{FF2B5EF4-FFF2-40B4-BE49-F238E27FC236}">
                <a16:creationId xmlns:a16="http://schemas.microsoft.com/office/drawing/2014/main" id="{DFA865BB-FB58-44DF-BAA0-E0C9A061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86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Memory and tool use are inconsistent</a:t>
            </a:r>
          </a:p>
        </p:txBody>
      </p:sp>
      <p:sp>
        <p:nvSpPr>
          <p:cNvPr id="32" name="dot-4">
            <a:extLst xmlns:a="http://schemas.openxmlformats.org/drawingml/2006/main">
              <a:ext uri="{FF2B5EF4-FFF2-40B4-BE49-F238E27FC236}">
                <a16:creationId xmlns:a16="http://schemas.microsoft.com/office/drawing/2014/main" id="{ECD6EAF3-CF75-4178-978D-B5B3FF56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29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33" name="bullet-4">
            <a:extLst xmlns:a="http://schemas.openxmlformats.org/drawingml/2006/main">
              <a:ext uri="{FF2B5EF4-FFF2-40B4-BE49-F238E27FC236}">
                <a16:creationId xmlns:a16="http://schemas.microsoft.com/office/drawing/2014/main" id="{5B008E68-4997-44EC-9932-2DA6ADA6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625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Production trust is still missing</a:t>
            </a:r>
          </a:p>
        </p:txBody>
      </p:sp>
      <p:sp>
        <p:nvSpPr>
          <p:cNvPr id="34" name="card">
            <a:extLst xmlns:a="http://schemas.openxmlformats.org/drawingml/2006/main">
              <a:ext uri="{FF2B5EF4-FFF2-40B4-BE49-F238E27FC236}">
                <a16:creationId xmlns:a16="http://schemas.microsoft.com/office/drawing/2014/main" id="{DC9A5E06-CB58-4C64-A4E1-E8C38D7C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33700"/>
            <a:ext cx="18097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2A1620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35" name="card-label">
            <a:extLst xmlns:a="http://schemas.openxmlformats.org/drawingml/2006/main">
              <a:ext uri="{FF2B5EF4-FFF2-40B4-BE49-F238E27FC236}">
                <a16:creationId xmlns:a16="http://schemas.microsoft.com/office/drawing/2014/main" id="{308E63B4-CD3E-4D43-B147-DD207694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004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Agent App</a:t>
            </a:r>
          </a:p>
        </p:txBody>
      </p:sp>
      <p:sp>
        <p:nvSpPr>
          <p:cNvPr id="36" name="card">
            <a:extLst xmlns:a="http://schemas.openxmlformats.org/drawingml/2006/main">
              <a:ext uri="{FF2B5EF4-FFF2-40B4-BE49-F238E27FC236}">
                <a16:creationId xmlns:a16="http://schemas.microsoft.com/office/drawing/2014/main" id="{120D694A-1C52-4CF7-A8F6-FCF5CA57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131445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21D2E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7" name="card-label">
            <a:extLst xmlns:a="http://schemas.openxmlformats.org/drawingml/2006/main">
              <a:ext uri="{FF2B5EF4-FFF2-40B4-BE49-F238E27FC236}">
                <a16:creationId xmlns:a16="http://schemas.microsoft.com/office/drawing/2014/main" id="{FDE69D2E-8A81-4DB0-96F4-C18FB025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Logs?</a:t>
            </a:r>
          </a:p>
        </p:txBody>
      </p:sp>
      <p:sp>
        <p:nvSpPr>
          <p:cNvPr id="38" name="card">
            <a:extLst xmlns:a="http://schemas.openxmlformats.org/drawingml/2006/main">
              <a:ext uri="{FF2B5EF4-FFF2-40B4-BE49-F238E27FC236}">
                <a16:creationId xmlns:a16="http://schemas.microsoft.com/office/drawing/2014/main" id="{9E110344-7CA2-4496-BFD9-EDCDDCA6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81200"/>
            <a:ext cx="144780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21D2E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9" name="card-label">
            <a:extLst xmlns:a="http://schemas.openxmlformats.org/drawingml/2006/main">
              <a:ext uri="{FF2B5EF4-FFF2-40B4-BE49-F238E27FC236}">
                <a16:creationId xmlns:a16="http://schemas.microsoft.com/office/drawing/2014/main" id="{5E69FA52-CBBD-4331-8933-B5DFF926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955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40" name="card">
            <a:extLst xmlns:a="http://schemas.openxmlformats.org/drawingml/2006/main">
              <a:ext uri="{FF2B5EF4-FFF2-40B4-BE49-F238E27FC236}">
                <a16:creationId xmlns:a16="http://schemas.microsoft.com/office/drawing/2014/main" id="{AC80FC0A-665E-43E1-AEDB-0C5BA1B8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33900"/>
            <a:ext cx="148590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21D2E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41" name="card-label">
            <a:extLst xmlns:a="http://schemas.openxmlformats.org/drawingml/2006/main">
              <a:ext uri="{FF2B5EF4-FFF2-40B4-BE49-F238E27FC236}">
                <a16:creationId xmlns:a16="http://schemas.microsoft.com/office/drawing/2014/main" id="{2854BA3D-2878-4703-A2B8-46C6942C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42" name="card">
            <a:extLst xmlns:a="http://schemas.openxmlformats.org/drawingml/2006/main">
              <a:ext uri="{FF2B5EF4-FFF2-40B4-BE49-F238E27FC236}">
                <a16:creationId xmlns:a16="http://schemas.microsoft.com/office/drawing/2014/main" id="{E8E7A2C2-335F-4914-9AD9-CF139B2E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476750"/>
            <a:ext cx="142875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21D2E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43" name="card-label">
            <a:extLst xmlns:a="http://schemas.openxmlformats.org/drawingml/2006/main">
              <a:ext uri="{FF2B5EF4-FFF2-40B4-BE49-F238E27FC236}">
                <a16:creationId xmlns:a16="http://schemas.microsoft.com/office/drawing/2014/main" id="{CBF1E91F-1AAD-4A9E-86DC-939DC85D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910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Failures</a:t>
            </a:r>
          </a:p>
        </p:txBody>
      </p:sp>
      <p:cxnSp>
        <p:nvCxnSpPr>
          <p:cNvPr id="91" name=""/>
          <p:cNvCxnSpPr>
            <a:stCxn xmlns:a="http://schemas.openxmlformats.org/drawingml/2006/main" id="34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H="1" flipV="1">
            <a:off x="6496050" y="2047875"/>
            <a:ext cx="293370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cxnSp>
        <p:nvCxnSpPr>
          <p:cNvPr id="92" name=""/>
          <p:cNvCxnSpPr>
            <a:stCxn xmlns:a="http://schemas.openxmlformats.org/drawingml/2006/main" id="34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V="1">
            <a:off x="9429750" y="2238375"/>
            <a:ext cx="17145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cxnSp>
        <p:nvCxnSpPr>
          <p:cNvPr id="93" name=""/>
          <p:cNvCxnSpPr>
            <a:stCxn xmlns:a="http://schemas.openxmlformats.org/drawingml/2006/main" id="34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H="1">
            <a:off x="6324600" y="3343275"/>
            <a:ext cx="3105150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cxnSp>
        <p:nvCxnSpPr>
          <p:cNvPr id="94" name=""/>
          <p:cNvCxnSpPr>
            <a:stCxn xmlns:a="http://schemas.openxmlformats.org/drawingml/2006/main" id="34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9429750" y="3343275"/>
            <a:ext cx="209550" cy="1390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8734268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A782676-C714-419E-9DBB-AF1F6DB5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2" name="bg-base">
            <a:extLst xmlns:a="http://schemas.openxmlformats.org/drawingml/2006/main">
              <a:ext uri="{FF2B5EF4-FFF2-40B4-BE49-F238E27FC236}">
                <a16:creationId xmlns:a16="http://schemas.microsoft.com/office/drawing/2014/main" id="{1EB44340-C5B0-4EB8-9A13-FA6C8655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41ACB9F9-F085-43C3-B8E8-F1674A23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4" name="grid-v-1">
            <a:extLst xmlns:a="http://schemas.openxmlformats.org/drawingml/2006/main">
              <a:ext uri="{FF2B5EF4-FFF2-40B4-BE49-F238E27FC236}">
                <a16:creationId xmlns:a16="http://schemas.microsoft.com/office/drawing/2014/main" id="{C81083A5-E9CA-4AB5-A797-1DFC4086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5" name="grid-v-2">
            <a:extLst xmlns:a="http://schemas.openxmlformats.org/drawingml/2006/main">
              <a:ext uri="{FF2B5EF4-FFF2-40B4-BE49-F238E27FC236}">
                <a16:creationId xmlns:a16="http://schemas.microsoft.com/office/drawing/2014/main" id="{81801FFB-A51B-4131-85AB-E9901C26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6" name="grid-v-3">
            <a:extLst xmlns:a="http://schemas.openxmlformats.org/drawingml/2006/main">
              <a:ext uri="{FF2B5EF4-FFF2-40B4-BE49-F238E27FC236}">
                <a16:creationId xmlns:a16="http://schemas.microsoft.com/office/drawing/2014/main" id="{01CDEFDA-A7D1-4C12-8BDE-729482BC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7" name="grid-v-4">
            <a:extLst xmlns:a="http://schemas.openxmlformats.org/drawingml/2006/main">
              <a:ext uri="{FF2B5EF4-FFF2-40B4-BE49-F238E27FC236}">
                <a16:creationId xmlns:a16="http://schemas.microsoft.com/office/drawing/2014/main" id="{2D6B56DB-6DBF-4684-AE72-C8E2D40D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8" name="grid-v-5">
            <a:extLst xmlns:a="http://schemas.openxmlformats.org/drawingml/2006/main">
              <a:ext uri="{FF2B5EF4-FFF2-40B4-BE49-F238E27FC236}">
                <a16:creationId xmlns:a16="http://schemas.microsoft.com/office/drawing/2014/main" id="{858E7649-03C1-4013-8865-F8D67B62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9" name="grid-v-6">
            <a:extLst xmlns:a="http://schemas.openxmlformats.org/drawingml/2006/main">
              <a:ext uri="{FF2B5EF4-FFF2-40B4-BE49-F238E27FC236}">
                <a16:creationId xmlns:a16="http://schemas.microsoft.com/office/drawing/2014/main" id="{A46EA7C1-3F2F-45E0-9D12-A2D50A7F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0" name="grid-v-7">
            <a:extLst xmlns:a="http://schemas.openxmlformats.org/drawingml/2006/main">
              <a:ext uri="{FF2B5EF4-FFF2-40B4-BE49-F238E27FC236}">
                <a16:creationId xmlns:a16="http://schemas.microsoft.com/office/drawing/2014/main" id="{6989C391-862D-49B6-807F-8986871C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1" name="grid-v-8">
            <a:extLst xmlns:a="http://schemas.openxmlformats.org/drawingml/2006/main">
              <a:ext uri="{FF2B5EF4-FFF2-40B4-BE49-F238E27FC236}">
                <a16:creationId xmlns:a16="http://schemas.microsoft.com/office/drawing/2014/main" id="{5A288F26-850A-4ECC-8322-80B36AFC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2" name="grid-v-9">
            <a:extLst xmlns:a="http://schemas.openxmlformats.org/drawingml/2006/main">
              <a:ext uri="{FF2B5EF4-FFF2-40B4-BE49-F238E27FC236}">
                <a16:creationId xmlns:a16="http://schemas.microsoft.com/office/drawing/2014/main" id="{7D61F4A5-8975-43C9-AE53-82312B22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3" name="grid-h-0">
            <a:extLst xmlns:a="http://schemas.openxmlformats.org/drawingml/2006/main">
              <a:ext uri="{FF2B5EF4-FFF2-40B4-BE49-F238E27FC236}">
                <a16:creationId xmlns:a16="http://schemas.microsoft.com/office/drawing/2014/main" id="{A93CDD5B-57CE-4C26-B200-1AC7D4E4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4" name="grid-h-1">
            <a:extLst xmlns:a="http://schemas.openxmlformats.org/drawingml/2006/main">
              <a:ext uri="{FF2B5EF4-FFF2-40B4-BE49-F238E27FC236}">
                <a16:creationId xmlns:a16="http://schemas.microsoft.com/office/drawing/2014/main" id="{02F869E5-8A52-4127-B3C3-2AB6A034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5" name="grid-h-2">
            <a:extLst xmlns:a="http://schemas.openxmlformats.org/drawingml/2006/main">
              <a:ext uri="{FF2B5EF4-FFF2-40B4-BE49-F238E27FC236}">
                <a16:creationId xmlns:a16="http://schemas.microsoft.com/office/drawing/2014/main" id="{E734B6BA-8FFA-4D2B-B88E-C41E2F31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CD596F75-C983-459C-BB46-49F801D7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7" name="grid-h-4">
            <a:extLst xmlns:a="http://schemas.openxmlformats.org/drawingml/2006/main">
              <a:ext uri="{FF2B5EF4-FFF2-40B4-BE49-F238E27FC236}">
                <a16:creationId xmlns:a16="http://schemas.microsoft.com/office/drawing/2014/main" id="{51508365-B377-4D69-8556-8D8F9302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8" name="accent-glow">
            <a:extLst xmlns:a="http://schemas.openxmlformats.org/drawingml/2006/main">
              <a:ext uri="{FF2B5EF4-FFF2-40B4-BE49-F238E27FC236}">
                <a16:creationId xmlns:a16="http://schemas.microsoft.com/office/drawing/2014/main" id="{9706959C-1212-434A-A0E0-C9DADEC9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42875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A70"/>
          </a:solidFill>
          <a:ln xmlns:a="http://schemas.openxmlformats.org/drawingml/2006/main" w="0">
            <a:solidFill>
              <a:srgbClr val="0A5A70"/>
            </a:solidFill>
            <a:prstDash val="solid"/>
          </a:ln>
        </p:spPr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1352DD1-5081-464C-B648-3C581EE7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E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E9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brand">
            <a:extLst xmlns:a="http://schemas.openxmlformats.org/drawingml/2006/main">
              <a:ext uri="{FF2B5EF4-FFF2-40B4-BE49-F238E27FC236}">
                <a16:creationId xmlns:a16="http://schemas.microsoft.com/office/drawing/2014/main" id="{384202EF-370D-4628-AEF4-48EB45AB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6D7FF"/>
                </a:solidFill>
                <a:latin typeface="Aptos"/>
                <a:ea typeface="Aptos"/>
                <a:cs typeface="Aptos"/>
              </a:rPr>
              <a:t>SULCUS OS</a:t>
            </a:r>
          </a:p>
        </p:txBody>
      </p:sp>
      <p:sp>
        <p:nvSpPr>
          <p:cNvPr id="21" name="brand-rule">
            <a:extLst xmlns:a="http://schemas.openxmlformats.org/drawingml/2006/main">
              <a:ext uri="{FF2B5EF4-FFF2-40B4-BE49-F238E27FC236}">
                <a16:creationId xmlns:a16="http://schemas.microsoft.com/office/drawing/2014/main" id="{EDB9B2D2-5D43-446A-B007-6A8287EE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D7FF"/>
            </a:solidFill>
            <a:prstDash val="solid"/>
          </a:ln>
        </p:spPr>
      </p:sp>
      <p:sp>
        <p:nvSpPr>
          <p:cNvPr id="22" name="title">
            <a:extLst xmlns:a="http://schemas.openxmlformats.org/drawingml/2006/main">
              <a:ext uri="{FF2B5EF4-FFF2-40B4-BE49-F238E27FC236}">
                <a16:creationId xmlns:a16="http://schemas.microsoft.com/office/drawing/2014/main" id="{5E8C0C45-E8F9-46A9-9D3F-6A33CFA1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Why Now</a:t>
            </a:r>
          </a:p>
        </p:txBody>
      </p:sp>
      <p:sp>
        <p:nvSpPr>
          <p:cNvPr id="23" name="message">
            <a:extLst xmlns:a="http://schemas.openxmlformats.org/drawingml/2006/main">
              <a:ext uri="{FF2B5EF4-FFF2-40B4-BE49-F238E27FC236}">
                <a16:creationId xmlns:a16="http://schemas.microsoft.com/office/drawing/2014/main" id="{5E19593B-74F5-4E22-A5A5-CCEBCE02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Agentic AI needs infrastructure before it can become reliable business software.</a:t>
            </a:r>
          </a:p>
        </p:txBody>
      </p:sp>
      <p:sp>
        <p:nvSpPr>
          <p:cNvPr id="24" name="card">
            <a:extLst xmlns:a="http://schemas.openxmlformats.org/drawingml/2006/main">
              <a:ext uri="{FF2B5EF4-FFF2-40B4-BE49-F238E27FC236}">
                <a16:creationId xmlns:a16="http://schemas.microsoft.com/office/drawing/2014/main" id="{760213A7-4227-470B-99A8-3F29B3BE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19400"/>
            <a:ext cx="409575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42236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25" name="card-label">
            <a:extLst xmlns:a="http://schemas.openxmlformats.org/drawingml/2006/main">
              <a:ext uri="{FF2B5EF4-FFF2-40B4-BE49-F238E27FC236}">
                <a16:creationId xmlns:a16="http://schemas.microsoft.com/office/drawing/2014/main" id="{4356B4D7-EBF5-40F7-A4D1-5244442E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337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Business workflows</a:t>
            </a:r>
          </a:p>
        </p:txBody>
      </p:sp>
      <p:sp>
        <p:nvSpPr>
          <p:cNvPr id="26" name="card">
            <a:extLst xmlns:a="http://schemas.openxmlformats.org/drawingml/2006/main">
              <a:ext uri="{FF2B5EF4-FFF2-40B4-BE49-F238E27FC236}">
                <a16:creationId xmlns:a16="http://schemas.microsoft.com/office/drawing/2014/main" id="{020AA6CB-3D49-4BBB-9910-72B82313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9575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27" name="card-label">
            <a:extLst xmlns:a="http://schemas.openxmlformats.org/drawingml/2006/main">
              <a:ext uri="{FF2B5EF4-FFF2-40B4-BE49-F238E27FC236}">
                <a16:creationId xmlns:a16="http://schemas.microsoft.com/office/drawing/2014/main" id="{F266A4F9-E63F-495B-A51E-60F0A1C6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576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Agent applications</a:t>
            </a:r>
          </a:p>
        </p:txBody>
      </p:sp>
      <p:sp>
        <p:nvSpPr>
          <p:cNvPr id="28" name="card">
            <a:extLst xmlns:a="http://schemas.openxmlformats.org/drawingml/2006/main">
              <a:ext uri="{FF2B5EF4-FFF2-40B4-BE49-F238E27FC236}">
                <a16:creationId xmlns:a16="http://schemas.microsoft.com/office/drawing/2014/main" id="{0D77C963-08F7-4A85-8EF3-71F48472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67200"/>
            <a:ext cx="409575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A3A4C"/>
          </a:solidFill>
          <a:ln xmlns:a="http://schemas.openxmlformats.org/drawingml/2006/main" w="9525">
            <a:solidFill>
              <a:srgbClr val="36D7FF"/>
            </a:solidFill>
            <a:prstDash val="solid"/>
          </a:ln>
        </p:spPr>
      </p:sp>
      <p:sp>
        <p:nvSpPr>
          <p:cNvPr id="29" name="card-label">
            <a:extLst xmlns:a="http://schemas.openxmlformats.org/drawingml/2006/main">
              <a:ext uri="{FF2B5EF4-FFF2-40B4-BE49-F238E27FC236}">
                <a16:creationId xmlns:a16="http://schemas.microsoft.com/office/drawing/2014/main" id="{62808AFC-6CC0-421E-958C-6F6DCD30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81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Sulcus OS runtime</a:t>
            </a:r>
          </a:p>
        </p:txBody>
      </p:sp>
      <p:sp>
        <p:nvSpPr>
          <p:cNvPr id="30" name="card">
            <a:extLst xmlns:a="http://schemas.openxmlformats.org/drawingml/2006/main">
              <a:ext uri="{FF2B5EF4-FFF2-40B4-BE49-F238E27FC236}">
                <a16:creationId xmlns:a16="http://schemas.microsoft.com/office/drawing/2014/main" id="{E2F5A903-59AF-4C62-B9FE-DB2CD08C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91100"/>
            <a:ext cx="409575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1" name="card-label">
            <a:extLst xmlns:a="http://schemas.openxmlformats.org/drawingml/2006/main">
              <a:ext uri="{FF2B5EF4-FFF2-40B4-BE49-F238E27FC236}">
                <a16:creationId xmlns:a16="http://schemas.microsoft.com/office/drawing/2014/main" id="{7C730E73-DDBB-426C-A465-DB0B4944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054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Models + cloud + tools</a:t>
            </a:r>
          </a:p>
        </p:txBody>
      </p:sp>
      <p:sp>
        <p:nvSpPr>
          <p:cNvPr id="32" name="dot-0">
            <a:extLst xmlns:a="http://schemas.openxmlformats.org/drawingml/2006/main">
              <a:ext uri="{FF2B5EF4-FFF2-40B4-BE49-F238E27FC236}">
                <a16:creationId xmlns:a16="http://schemas.microsoft.com/office/drawing/2014/main" id="{0EAA661D-53C2-4444-AC2C-D8DCB17E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6A5"/>
          </a:solidFill>
          <a:ln xmlns:a="http://schemas.openxmlformats.org/drawingml/2006/main" w="0">
            <a:solidFill>
              <a:srgbClr val="55E6A5"/>
            </a:solidFill>
            <a:prstDash val="solid"/>
          </a:ln>
        </p:spPr>
      </p:sp>
      <p:sp>
        <p:nvSpPr>
          <p:cNvPr id="33" name="bullet-0">
            <a:extLst xmlns:a="http://schemas.openxmlformats.org/drawingml/2006/main">
              <a:ext uri="{FF2B5EF4-FFF2-40B4-BE49-F238E27FC236}">
                <a16:creationId xmlns:a16="http://schemas.microsoft.com/office/drawing/2014/main" id="{251519C7-8501-4D4A-9633-6F87C07A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146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Orchestration</a:t>
            </a:r>
          </a:p>
        </p:txBody>
      </p:sp>
      <p:sp>
        <p:nvSpPr>
          <p:cNvPr id="34" name="dot-1">
            <a:extLst xmlns:a="http://schemas.openxmlformats.org/drawingml/2006/main">
              <a:ext uri="{FF2B5EF4-FFF2-40B4-BE49-F238E27FC236}">
                <a16:creationId xmlns:a16="http://schemas.microsoft.com/office/drawing/2014/main" id="{C8AF9F23-D4E5-46E3-B9DA-A5D10950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6A5"/>
          </a:solidFill>
          <a:ln xmlns:a="http://schemas.openxmlformats.org/drawingml/2006/main" w="0">
            <a:solidFill>
              <a:srgbClr val="55E6A5"/>
            </a:solidFill>
            <a:prstDash val="solid"/>
          </a:ln>
        </p:spPr>
      </p:sp>
      <p:sp>
        <p:nvSpPr>
          <p:cNvPr id="35" name="bullet-1">
            <a:extLst xmlns:a="http://schemas.openxmlformats.org/drawingml/2006/main">
              <a:ext uri="{FF2B5EF4-FFF2-40B4-BE49-F238E27FC236}">
                <a16:creationId xmlns:a16="http://schemas.microsoft.com/office/drawing/2014/main" id="{F634B2FE-17B5-4533-8AAB-DD35908A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861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36" name="dot-2">
            <a:extLst xmlns:a="http://schemas.openxmlformats.org/drawingml/2006/main">
              <a:ext uri="{FF2B5EF4-FFF2-40B4-BE49-F238E27FC236}">
                <a16:creationId xmlns:a16="http://schemas.microsoft.com/office/drawing/2014/main" id="{D1510B32-799F-4CC9-8A02-C8DF440A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24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6A5"/>
          </a:solidFill>
          <a:ln xmlns:a="http://schemas.openxmlformats.org/drawingml/2006/main" w="0">
            <a:solidFill>
              <a:srgbClr val="55E6A5"/>
            </a:solidFill>
            <a:prstDash val="solid"/>
          </a:ln>
        </p:spPr>
      </p:sp>
      <p:sp>
        <p:nvSpPr>
          <p:cNvPr id="37" name="bullet-2">
            <a:extLst xmlns:a="http://schemas.openxmlformats.org/drawingml/2006/main">
              <a:ext uri="{FF2B5EF4-FFF2-40B4-BE49-F238E27FC236}">
                <a16:creationId xmlns:a16="http://schemas.microsoft.com/office/drawing/2014/main" id="{FBB2E388-7968-4F12-9014-6E5F1E54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Monitoring</a:t>
            </a:r>
          </a:p>
        </p:txBody>
      </p:sp>
      <p:sp>
        <p:nvSpPr>
          <p:cNvPr id="38" name="dot-3">
            <a:extLst xmlns:a="http://schemas.openxmlformats.org/drawingml/2006/main">
              <a:ext uri="{FF2B5EF4-FFF2-40B4-BE49-F238E27FC236}">
                <a16:creationId xmlns:a16="http://schemas.microsoft.com/office/drawing/2014/main" id="{1F4AC301-03F5-4074-A522-7E564468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6A5"/>
          </a:solidFill>
          <a:ln xmlns:a="http://schemas.openxmlformats.org/drawingml/2006/main" w="0">
            <a:solidFill>
              <a:srgbClr val="55E6A5"/>
            </a:solidFill>
            <a:prstDash val="solid"/>
          </a:ln>
        </p:spPr>
      </p:sp>
      <p:sp>
        <p:nvSpPr>
          <p:cNvPr id="39" name="bullet-3">
            <a:extLst xmlns:a="http://schemas.openxmlformats.org/drawingml/2006/main">
              <a:ext uri="{FF2B5EF4-FFF2-40B4-BE49-F238E27FC236}">
                <a16:creationId xmlns:a16="http://schemas.microsoft.com/office/drawing/2014/main" id="{6725C307-C431-4D51-944E-193BDAFD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290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Permissions</a:t>
            </a:r>
          </a:p>
        </p:txBody>
      </p:sp>
      <p:sp>
        <p:nvSpPr>
          <p:cNvPr id="40" name="dot-4">
            <a:extLst xmlns:a="http://schemas.openxmlformats.org/drawingml/2006/main">
              <a:ext uri="{FF2B5EF4-FFF2-40B4-BE49-F238E27FC236}">
                <a16:creationId xmlns:a16="http://schemas.microsoft.com/office/drawing/2014/main" id="{DECCA180-4497-41D1-A3BA-8F6700D5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67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6A5"/>
          </a:solidFill>
          <a:ln xmlns:a="http://schemas.openxmlformats.org/drawingml/2006/main" w="0">
            <a:solidFill>
              <a:srgbClr val="55E6A5"/>
            </a:solidFill>
            <a:prstDash val="solid"/>
          </a:ln>
        </p:spPr>
      </p:sp>
      <p:sp>
        <p:nvSpPr>
          <p:cNvPr id="41" name="bullet-4">
            <a:extLst xmlns:a="http://schemas.openxmlformats.org/drawingml/2006/main">
              <a:ext uri="{FF2B5EF4-FFF2-40B4-BE49-F238E27FC236}">
                <a16:creationId xmlns:a16="http://schemas.microsoft.com/office/drawing/2014/main" id="{0F3728D1-D7C5-4986-9B53-DF915CE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005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42" name="dot-5">
            <a:extLst xmlns:a="http://schemas.openxmlformats.org/drawingml/2006/main">
              <a:ext uri="{FF2B5EF4-FFF2-40B4-BE49-F238E27FC236}">
                <a16:creationId xmlns:a16="http://schemas.microsoft.com/office/drawing/2014/main" id="{3E7E61CA-079C-4AD9-A8D4-9A085E4D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6A5"/>
          </a:solidFill>
          <a:ln xmlns:a="http://schemas.openxmlformats.org/drawingml/2006/main" w="0">
            <a:solidFill>
              <a:srgbClr val="55E6A5"/>
            </a:solidFill>
            <a:prstDash val="solid"/>
          </a:ln>
        </p:spPr>
      </p:sp>
      <p:sp>
        <p:nvSpPr>
          <p:cNvPr id="43" name="bullet-5">
            <a:extLst xmlns:a="http://schemas.openxmlformats.org/drawingml/2006/main">
              <a:ext uri="{FF2B5EF4-FFF2-40B4-BE49-F238E27FC236}">
                <a16:creationId xmlns:a16="http://schemas.microsoft.com/office/drawing/2014/main" id="{D723A871-BFA2-46E9-BB34-F3C4C13E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720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Reliability</a:t>
            </a:r>
          </a:p>
        </p:txBody>
      </p:sp>
    </p:spTree>
    <p:extLst>
      <p:ext uri="{BB962C8B-B14F-4D97-AF65-F5344CB8AC3E}">
        <p14:creationId xmlns:p14="http://schemas.microsoft.com/office/powerpoint/2010/main" val="14960153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98EEEAA-FE73-4D05-9143-C529197D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2" name="bg-base">
            <a:extLst xmlns:a="http://schemas.openxmlformats.org/drawingml/2006/main">
              <a:ext uri="{FF2B5EF4-FFF2-40B4-BE49-F238E27FC236}">
                <a16:creationId xmlns:a16="http://schemas.microsoft.com/office/drawing/2014/main" id="{54028673-B4DF-4B9F-A379-91C201B3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0CF1DFB0-45E2-4A78-B498-40E5AABF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4" name="grid-v-1">
            <a:extLst xmlns:a="http://schemas.openxmlformats.org/drawingml/2006/main">
              <a:ext uri="{FF2B5EF4-FFF2-40B4-BE49-F238E27FC236}">
                <a16:creationId xmlns:a16="http://schemas.microsoft.com/office/drawing/2014/main" id="{3D7BB6DE-6A32-4637-AAF9-5DDFF930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5" name="grid-v-2">
            <a:extLst xmlns:a="http://schemas.openxmlformats.org/drawingml/2006/main">
              <a:ext uri="{FF2B5EF4-FFF2-40B4-BE49-F238E27FC236}">
                <a16:creationId xmlns:a16="http://schemas.microsoft.com/office/drawing/2014/main" id="{F608EBEB-B470-42A5-8DF4-5011254F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6" name="grid-v-3">
            <a:extLst xmlns:a="http://schemas.openxmlformats.org/drawingml/2006/main">
              <a:ext uri="{FF2B5EF4-FFF2-40B4-BE49-F238E27FC236}">
                <a16:creationId xmlns:a16="http://schemas.microsoft.com/office/drawing/2014/main" id="{F8BE2393-054F-48EE-A6FB-6104FA60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7" name="grid-v-4">
            <a:extLst xmlns:a="http://schemas.openxmlformats.org/drawingml/2006/main">
              <a:ext uri="{FF2B5EF4-FFF2-40B4-BE49-F238E27FC236}">
                <a16:creationId xmlns:a16="http://schemas.microsoft.com/office/drawing/2014/main" id="{20CD4594-9729-4ABE-B8F6-72D5FD87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8" name="grid-v-5">
            <a:extLst xmlns:a="http://schemas.openxmlformats.org/drawingml/2006/main">
              <a:ext uri="{FF2B5EF4-FFF2-40B4-BE49-F238E27FC236}">
                <a16:creationId xmlns:a16="http://schemas.microsoft.com/office/drawing/2014/main" id="{762E36B8-A2B7-40A3-B269-D5FEA46A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9" name="grid-v-6">
            <a:extLst xmlns:a="http://schemas.openxmlformats.org/drawingml/2006/main">
              <a:ext uri="{FF2B5EF4-FFF2-40B4-BE49-F238E27FC236}">
                <a16:creationId xmlns:a16="http://schemas.microsoft.com/office/drawing/2014/main" id="{11E7D660-72F4-4E3A-AFAB-3DF72199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0" name="grid-v-7">
            <a:extLst xmlns:a="http://schemas.openxmlformats.org/drawingml/2006/main">
              <a:ext uri="{FF2B5EF4-FFF2-40B4-BE49-F238E27FC236}">
                <a16:creationId xmlns:a16="http://schemas.microsoft.com/office/drawing/2014/main" id="{7A011FF8-DCB6-46D6-B896-01BA8172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1" name="grid-v-8">
            <a:extLst xmlns:a="http://schemas.openxmlformats.org/drawingml/2006/main">
              <a:ext uri="{FF2B5EF4-FFF2-40B4-BE49-F238E27FC236}">
                <a16:creationId xmlns:a16="http://schemas.microsoft.com/office/drawing/2014/main" id="{F7338BDA-A62B-4071-B5CB-BB2572A3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2" name="grid-v-9">
            <a:extLst xmlns:a="http://schemas.openxmlformats.org/drawingml/2006/main">
              <a:ext uri="{FF2B5EF4-FFF2-40B4-BE49-F238E27FC236}">
                <a16:creationId xmlns:a16="http://schemas.microsoft.com/office/drawing/2014/main" id="{2E5BACEE-7917-4693-B411-37E42BDD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3" name="grid-h-0">
            <a:extLst xmlns:a="http://schemas.openxmlformats.org/drawingml/2006/main">
              <a:ext uri="{FF2B5EF4-FFF2-40B4-BE49-F238E27FC236}">
                <a16:creationId xmlns:a16="http://schemas.microsoft.com/office/drawing/2014/main" id="{617259C1-8AC4-40C2-A887-0987AE83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4" name="grid-h-1">
            <a:extLst xmlns:a="http://schemas.openxmlformats.org/drawingml/2006/main">
              <a:ext uri="{FF2B5EF4-FFF2-40B4-BE49-F238E27FC236}">
                <a16:creationId xmlns:a16="http://schemas.microsoft.com/office/drawing/2014/main" id="{6B69209A-5B3C-4DB6-B33E-9E42F0A1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5" name="grid-h-2">
            <a:extLst xmlns:a="http://schemas.openxmlformats.org/drawingml/2006/main">
              <a:ext uri="{FF2B5EF4-FFF2-40B4-BE49-F238E27FC236}">
                <a16:creationId xmlns:a16="http://schemas.microsoft.com/office/drawing/2014/main" id="{6CE2E26F-B64B-4A16-9D37-473FF254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EBD3358D-5E47-4209-979F-A38DD62C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7" name="grid-h-4">
            <a:extLst xmlns:a="http://schemas.openxmlformats.org/drawingml/2006/main">
              <a:ext uri="{FF2B5EF4-FFF2-40B4-BE49-F238E27FC236}">
                <a16:creationId xmlns:a16="http://schemas.microsoft.com/office/drawing/2014/main" id="{2D28048E-FAFC-4106-A65F-2D6E5EFF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8" name="accent-glow">
            <a:extLst xmlns:a="http://schemas.openxmlformats.org/drawingml/2006/main">
              <a:ext uri="{FF2B5EF4-FFF2-40B4-BE49-F238E27FC236}">
                <a16:creationId xmlns:a16="http://schemas.microsoft.com/office/drawing/2014/main" id="{D64DF896-DDD0-4AFB-A9E4-881DB43A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42875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A70"/>
          </a:solidFill>
          <a:ln xmlns:a="http://schemas.openxmlformats.org/drawingml/2006/main" w="0">
            <a:solidFill>
              <a:srgbClr val="0A5A70"/>
            </a:solidFill>
            <a:prstDash val="solid"/>
          </a:ln>
        </p:spPr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A31FF2D-84BF-4C41-A9BB-5712A119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E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E9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0" name="brand">
            <a:extLst xmlns:a="http://schemas.openxmlformats.org/drawingml/2006/main">
              <a:ext uri="{FF2B5EF4-FFF2-40B4-BE49-F238E27FC236}">
                <a16:creationId xmlns:a16="http://schemas.microsoft.com/office/drawing/2014/main" id="{848A939E-F47F-4527-9629-95D43CE2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6D7FF"/>
                </a:solidFill>
                <a:latin typeface="Aptos"/>
                <a:ea typeface="Aptos"/>
                <a:cs typeface="Aptos"/>
              </a:rPr>
              <a:t>SULCUS OS</a:t>
            </a:r>
          </a:p>
        </p:txBody>
      </p:sp>
      <p:sp>
        <p:nvSpPr>
          <p:cNvPr id="21" name="brand-rule">
            <a:extLst xmlns:a="http://schemas.openxmlformats.org/drawingml/2006/main">
              <a:ext uri="{FF2B5EF4-FFF2-40B4-BE49-F238E27FC236}">
                <a16:creationId xmlns:a16="http://schemas.microsoft.com/office/drawing/2014/main" id="{B00F3AD6-1207-4748-90AB-C9238F23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D7FF"/>
            </a:solidFill>
            <a:prstDash val="solid"/>
          </a:ln>
        </p:spPr>
      </p:sp>
      <p:sp>
        <p:nvSpPr>
          <p:cNvPr id="22" name="title">
            <a:extLst xmlns:a="http://schemas.openxmlformats.org/drawingml/2006/main">
              <a:ext uri="{FF2B5EF4-FFF2-40B4-BE49-F238E27FC236}">
                <a16:creationId xmlns:a16="http://schemas.microsoft.com/office/drawing/2014/main" id="{D5D023BC-40FB-448A-8643-8DADEC77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What Sulcus OS Is</a:t>
            </a:r>
          </a:p>
        </p:txBody>
      </p:sp>
      <p:sp>
        <p:nvSpPr>
          <p:cNvPr id="23" name="message">
            <a:extLst xmlns:a="http://schemas.openxmlformats.org/drawingml/2006/main">
              <a:ext uri="{FF2B5EF4-FFF2-40B4-BE49-F238E27FC236}">
                <a16:creationId xmlns:a16="http://schemas.microsoft.com/office/drawing/2014/main" id="{9F764179-C846-424B-BE98-62F68490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An OS-style runtime for AI agents.</a:t>
            </a:r>
          </a:p>
        </p:txBody>
      </p:sp>
      <p:sp>
        <p:nvSpPr>
          <p:cNvPr id="24" name="dot-0">
            <a:extLst xmlns:a="http://schemas.openxmlformats.org/drawingml/2006/main">
              <a:ext uri="{FF2B5EF4-FFF2-40B4-BE49-F238E27FC236}">
                <a16:creationId xmlns:a16="http://schemas.microsoft.com/office/drawing/2014/main" id="{954DED65-0301-4443-9A72-4966E82D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25" name="bullet-0">
            <a:extLst xmlns:a="http://schemas.openxmlformats.org/drawingml/2006/main">
              <a:ext uri="{FF2B5EF4-FFF2-40B4-BE49-F238E27FC236}">
                <a16:creationId xmlns:a16="http://schemas.microsoft.com/office/drawing/2014/main" id="{C8A621AB-2DDE-4C1C-97D0-3C8932A7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Manages agents, tools, memory, timelines, communication, and execution</a:t>
            </a:r>
          </a:p>
        </p:txBody>
      </p:sp>
      <p:sp>
        <p:nvSpPr>
          <p:cNvPr id="26" name="dot-1">
            <a:extLst xmlns:a="http://schemas.openxmlformats.org/drawingml/2006/main">
              <a:ext uri="{FF2B5EF4-FFF2-40B4-BE49-F238E27FC236}">
                <a16:creationId xmlns:a16="http://schemas.microsoft.com/office/drawing/2014/main" id="{A786A036-FC4C-43A2-9460-9409753C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33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27" name="bullet-1">
            <a:extLst xmlns:a="http://schemas.openxmlformats.org/drawingml/2006/main">
              <a:ext uri="{FF2B5EF4-FFF2-40B4-BE49-F238E27FC236}">
                <a16:creationId xmlns:a16="http://schemas.microsoft.com/office/drawing/2014/main" id="{9165805D-DDD5-4678-90AA-87A4DD85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Gives developers primitives for building observable agent systems</a:t>
            </a:r>
          </a:p>
        </p:txBody>
      </p:sp>
      <p:sp>
        <p:nvSpPr>
          <p:cNvPr id="28" name="dot-2">
            <a:extLst xmlns:a="http://schemas.openxmlformats.org/drawingml/2006/main">
              <a:ext uri="{FF2B5EF4-FFF2-40B4-BE49-F238E27FC236}">
                <a16:creationId xmlns:a16="http://schemas.microsoft.com/office/drawing/2014/main" id="{C183BA58-66A3-4A3B-BF83-97A5892B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29" name="bullet-2">
            <a:extLst xmlns:a="http://schemas.openxmlformats.org/drawingml/2006/main">
              <a:ext uri="{FF2B5EF4-FFF2-40B4-BE49-F238E27FC236}">
                <a16:creationId xmlns:a16="http://schemas.microsoft.com/office/drawing/2014/main" id="{C5ED974C-AC8E-47C5-8D34-2C933F34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Makes agent activity easier to run, inspect, and improve</a:t>
            </a:r>
          </a:p>
        </p:txBody>
      </p:sp>
      <p:sp>
        <p:nvSpPr>
          <p:cNvPr id="30" name="card">
            <a:extLst xmlns:a="http://schemas.openxmlformats.org/drawingml/2006/main">
              <a:ext uri="{FF2B5EF4-FFF2-40B4-BE49-F238E27FC236}">
                <a16:creationId xmlns:a16="http://schemas.microsoft.com/office/drawing/2014/main" id="{3E05988F-F1D4-45F5-A15D-F6770C37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14650"/>
            <a:ext cx="20002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36D7FF"/>
            </a:solidFill>
            <a:prstDash val="solid"/>
          </a:ln>
        </p:spPr>
      </p:sp>
      <p:sp>
        <p:nvSpPr>
          <p:cNvPr id="31" name="card-label">
            <a:extLst xmlns:a="http://schemas.openxmlformats.org/drawingml/2006/main">
              <a:ext uri="{FF2B5EF4-FFF2-40B4-BE49-F238E27FC236}">
                <a16:creationId xmlns:a16="http://schemas.microsoft.com/office/drawing/2014/main" id="{2A53C75C-1420-4861-913A-6DB76104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0992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Sulcus OS</a:t>
            </a:r>
          </a:p>
          <a:p xmlns:a="http://schemas.openxmlformats.org/drawingml/2006/main">
            <a:pPr algn="ctr">
              <a:defRPr sz="17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32" name="pill">
            <a:extLst xmlns:a="http://schemas.openxmlformats.org/drawingml/2006/main">
              <a:ext uri="{FF2B5EF4-FFF2-40B4-BE49-F238E27FC236}">
                <a16:creationId xmlns:a16="http://schemas.microsoft.com/office/drawing/2014/main" id="{774FA2F3-A2A4-4C93-87DB-E1922697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66900"/>
            <a:ext cx="1123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D2E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3" name="pill-label">
            <a:extLst xmlns:a="http://schemas.openxmlformats.org/drawingml/2006/main">
              <a:ext uri="{FF2B5EF4-FFF2-40B4-BE49-F238E27FC236}">
                <a16:creationId xmlns:a16="http://schemas.microsoft.com/office/drawing/2014/main" id="{46682742-F31D-4E7E-83FF-43A01379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Agents</a:t>
            </a:r>
          </a:p>
        </p:txBody>
      </p:sp>
      <p:cxnSp>
        <p:nvCxnSpPr>
          <p:cNvPr id="80" name=""/>
          <p:cNvCxnSpPr>
            <a:stCxn xmlns:a="http://schemas.openxmlformats.org/drawingml/2006/main" id="32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>
            <a:off x="7562850" y="2047875"/>
            <a:ext cx="133350" cy="1304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sp>
        <p:nvSpPr>
          <p:cNvPr id="35" name="pill">
            <a:extLst xmlns:a="http://schemas.openxmlformats.org/drawingml/2006/main">
              <a:ext uri="{FF2B5EF4-FFF2-40B4-BE49-F238E27FC236}">
                <a16:creationId xmlns:a16="http://schemas.microsoft.com/office/drawing/2014/main" id="{11301A8A-FA2A-4A76-A0B1-8D8D7283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847850"/>
            <a:ext cx="12001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D2E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6" name="pill-label">
            <a:extLst xmlns:a="http://schemas.openxmlformats.org/drawingml/2006/main">
              <a:ext uri="{FF2B5EF4-FFF2-40B4-BE49-F238E27FC236}">
                <a16:creationId xmlns:a16="http://schemas.microsoft.com/office/drawing/2014/main" id="{5128B848-1C8D-4C9E-8436-8FDA7E69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1924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cxnSp>
        <p:nvCxnSpPr>
          <p:cNvPr id="83" name=""/>
          <p:cNvCxnSpPr>
            <a:stCxn xmlns:a="http://schemas.openxmlformats.org/drawingml/2006/main" id="35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>
            <a:off x="7562850" y="2028825"/>
            <a:ext cx="3209925" cy="1323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sp>
        <p:nvSpPr>
          <p:cNvPr id="38" name="pill">
            <a:extLst xmlns:a="http://schemas.openxmlformats.org/drawingml/2006/main">
              <a:ext uri="{FF2B5EF4-FFF2-40B4-BE49-F238E27FC236}">
                <a16:creationId xmlns:a16="http://schemas.microsoft.com/office/drawing/2014/main" id="{44F32373-FB91-483B-A550-060D0EA2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76750"/>
            <a:ext cx="1314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D2E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9" name="pill-label">
            <a:extLst xmlns:a="http://schemas.openxmlformats.org/drawingml/2006/main">
              <a:ext uri="{FF2B5EF4-FFF2-40B4-BE49-F238E27FC236}">
                <a16:creationId xmlns:a16="http://schemas.microsoft.com/office/drawing/2014/main" id="{F62CDBFD-760D-4D72-9340-CAA7E8DD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529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cxnSp>
        <p:nvCxnSpPr>
          <p:cNvPr id="86" name=""/>
          <p:cNvCxnSpPr>
            <a:stCxn xmlns:a="http://schemas.openxmlformats.org/drawingml/2006/main" id="38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 flipV="1">
            <a:off x="7562850" y="3352800"/>
            <a:ext cx="19050" cy="1304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sp>
        <p:nvSpPr>
          <p:cNvPr id="41" name="pill">
            <a:extLst xmlns:a="http://schemas.openxmlformats.org/drawingml/2006/main">
              <a:ext uri="{FF2B5EF4-FFF2-40B4-BE49-F238E27FC236}">
                <a16:creationId xmlns:a16="http://schemas.microsoft.com/office/drawing/2014/main" id="{613B8AA2-1A41-48FB-9A59-3407FEAE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457700"/>
            <a:ext cx="1257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D2E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42" name="pill-label">
            <a:extLst xmlns:a="http://schemas.openxmlformats.org/drawingml/2006/main">
              <a:ext uri="{FF2B5EF4-FFF2-40B4-BE49-F238E27FC236}">
                <a16:creationId xmlns:a16="http://schemas.microsoft.com/office/drawing/2014/main" id="{FA3BB71F-2A29-46BB-A81D-2231A2DF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5339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Timeline</a:t>
            </a:r>
          </a:p>
        </p:txBody>
      </p:sp>
      <p:cxnSp>
        <p:nvCxnSpPr>
          <p:cNvPr id="89" name=""/>
          <p:cNvCxnSpPr>
            <a:stCxn xmlns:a="http://schemas.openxmlformats.org/drawingml/2006/main" id="41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 flipV="1">
            <a:off x="7562850" y="3352800"/>
            <a:ext cx="335280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sp>
        <p:nvSpPr>
          <p:cNvPr id="44" name="pill">
            <a:extLst xmlns:a="http://schemas.openxmlformats.org/drawingml/2006/main">
              <a:ext uri="{FF2B5EF4-FFF2-40B4-BE49-F238E27FC236}">
                <a16:creationId xmlns:a16="http://schemas.microsoft.com/office/drawing/2014/main" id="{803A0E8F-34A2-40F2-96B6-FF35496A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05400"/>
            <a:ext cx="1181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D2E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45" name="pill-label">
            <a:extLst xmlns:a="http://schemas.openxmlformats.org/drawingml/2006/main">
              <a:ext uri="{FF2B5EF4-FFF2-40B4-BE49-F238E27FC236}">
                <a16:creationId xmlns:a16="http://schemas.microsoft.com/office/drawing/2014/main" id="{6ABC9F6C-907F-4620-A359-C0877EB9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816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LLMs</a:t>
            </a:r>
          </a:p>
        </p:txBody>
      </p:sp>
      <p:cxnSp>
        <p:nvCxnSpPr>
          <p:cNvPr id="92" name=""/>
          <p:cNvCxnSpPr>
            <a:stCxn xmlns:a="http://schemas.openxmlformats.org/drawingml/2006/main" id="44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 flipV="1">
            <a:off x="7562850" y="3352800"/>
            <a:ext cx="1600200" cy="1933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13420915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D5416B4-BA43-4C0C-9D18-FEB1995C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2" name="bg-base">
            <a:extLst xmlns:a="http://schemas.openxmlformats.org/drawingml/2006/main">
              <a:ext uri="{FF2B5EF4-FFF2-40B4-BE49-F238E27FC236}">
                <a16:creationId xmlns:a16="http://schemas.microsoft.com/office/drawing/2014/main" id="{C04ACC24-CDEB-42AD-B71D-9716DA03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3496A491-41A7-46B3-859B-CAB1F4F4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4" name="grid-v-1">
            <a:extLst xmlns:a="http://schemas.openxmlformats.org/drawingml/2006/main">
              <a:ext uri="{FF2B5EF4-FFF2-40B4-BE49-F238E27FC236}">
                <a16:creationId xmlns:a16="http://schemas.microsoft.com/office/drawing/2014/main" id="{2CBE310D-D28C-49A0-9CDC-AE32EFA6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5" name="grid-v-2">
            <a:extLst xmlns:a="http://schemas.openxmlformats.org/drawingml/2006/main">
              <a:ext uri="{FF2B5EF4-FFF2-40B4-BE49-F238E27FC236}">
                <a16:creationId xmlns:a16="http://schemas.microsoft.com/office/drawing/2014/main" id="{0ADE84C5-333D-492B-9F5A-84D3D738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6" name="grid-v-3">
            <a:extLst xmlns:a="http://schemas.openxmlformats.org/drawingml/2006/main">
              <a:ext uri="{FF2B5EF4-FFF2-40B4-BE49-F238E27FC236}">
                <a16:creationId xmlns:a16="http://schemas.microsoft.com/office/drawing/2014/main" id="{5C79B421-D086-42D3-892F-0596F7A7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7" name="grid-v-4">
            <a:extLst xmlns:a="http://schemas.openxmlformats.org/drawingml/2006/main">
              <a:ext uri="{FF2B5EF4-FFF2-40B4-BE49-F238E27FC236}">
                <a16:creationId xmlns:a16="http://schemas.microsoft.com/office/drawing/2014/main" id="{5F9080EE-2B30-462B-B1EF-685443D1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8" name="grid-v-5">
            <a:extLst xmlns:a="http://schemas.openxmlformats.org/drawingml/2006/main">
              <a:ext uri="{FF2B5EF4-FFF2-40B4-BE49-F238E27FC236}">
                <a16:creationId xmlns:a16="http://schemas.microsoft.com/office/drawing/2014/main" id="{B358B8C3-B763-4E00-B0AF-89D2F74E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9" name="grid-v-6">
            <a:extLst xmlns:a="http://schemas.openxmlformats.org/drawingml/2006/main">
              <a:ext uri="{FF2B5EF4-FFF2-40B4-BE49-F238E27FC236}">
                <a16:creationId xmlns:a16="http://schemas.microsoft.com/office/drawing/2014/main" id="{C43C5576-FA0C-4A1B-A0BF-06B4F0EE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0" name="grid-v-7">
            <a:extLst xmlns:a="http://schemas.openxmlformats.org/drawingml/2006/main">
              <a:ext uri="{FF2B5EF4-FFF2-40B4-BE49-F238E27FC236}">
                <a16:creationId xmlns:a16="http://schemas.microsoft.com/office/drawing/2014/main" id="{9BCAB1F6-206D-40E2-9934-F75E1375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1" name="grid-v-8">
            <a:extLst xmlns:a="http://schemas.openxmlformats.org/drawingml/2006/main">
              <a:ext uri="{FF2B5EF4-FFF2-40B4-BE49-F238E27FC236}">
                <a16:creationId xmlns:a16="http://schemas.microsoft.com/office/drawing/2014/main" id="{CD51723E-0E41-4383-A847-82CEE9C7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2" name="grid-v-9">
            <a:extLst xmlns:a="http://schemas.openxmlformats.org/drawingml/2006/main">
              <a:ext uri="{FF2B5EF4-FFF2-40B4-BE49-F238E27FC236}">
                <a16:creationId xmlns:a16="http://schemas.microsoft.com/office/drawing/2014/main" id="{ED11826E-13FB-45E5-BD44-52C5FEDA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3" name="grid-h-0">
            <a:extLst xmlns:a="http://schemas.openxmlformats.org/drawingml/2006/main">
              <a:ext uri="{FF2B5EF4-FFF2-40B4-BE49-F238E27FC236}">
                <a16:creationId xmlns:a16="http://schemas.microsoft.com/office/drawing/2014/main" id="{D7009A56-A9CD-4ECB-8FB4-2AA89043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4" name="grid-h-1">
            <a:extLst xmlns:a="http://schemas.openxmlformats.org/drawingml/2006/main">
              <a:ext uri="{FF2B5EF4-FFF2-40B4-BE49-F238E27FC236}">
                <a16:creationId xmlns:a16="http://schemas.microsoft.com/office/drawing/2014/main" id="{CB8C897E-79DC-4E84-ACBD-DFB5D11A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5" name="grid-h-2">
            <a:extLst xmlns:a="http://schemas.openxmlformats.org/drawingml/2006/main">
              <a:ext uri="{FF2B5EF4-FFF2-40B4-BE49-F238E27FC236}">
                <a16:creationId xmlns:a16="http://schemas.microsoft.com/office/drawing/2014/main" id="{DABAD51D-1DCC-4BDB-86E6-11B56E8A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4D70634F-322F-4D63-8E54-DB39BC24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7" name="grid-h-4">
            <a:extLst xmlns:a="http://schemas.openxmlformats.org/drawingml/2006/main">
              <a:ext uri="{FF2B5EF4-FFF2-40B4-BE49-F238E27FC236}">
                <a16:creationId xmlns:a16="http://schemas.microsoft.com/office/drawing/2014/main" id="{D5EC6743-F161-477B-A040-97A5AB08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8" name="accent-glow">
            <a:extLst xmlns:a="http://schemas.openxmlformats.org/drawingml/2006/main">
              <a:ext uri="{FF2B5EF4-FFF2-40B4-BE49-F238E27FC236}">
                <a16:creationId xmlns:a16="http://schemas.microsoft.com/office/drawing/2014/main" id="{F59DC02A-6342-4465-9A1E-70AED612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42875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A70"/>
          </a:solidFill>
          <a:ln xmlns:a="http://schemas.openxmlformats.org/drawingml/2006/main" w="0">
            <a:solidFill>
              <a:srgbClr val="0A5A70"/>
            </a:solidFill>
            <a:prstDash val="solid"/>
          </a:ln>
        </p:spPr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C52C0BB-3422-4290-B0BF-3F9765DE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E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E9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0" name="brand">
            <a:extLst xmlns:a="http://schemas.openxmlformats.org/drawingml/2006/main">
              <a:ext uri="{FF2B5EF4-FFF2-40B4-BE49-F238E27FC236}">
                <a16:creationId xmlns:a16="http://schemas.microsoft.com/office/drawing/2014/main" id="{E3520351-DFFF-4066-980B-A2E60F1E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6D7FF"/>
                </a:solidFill>
                <a:latin typeface="Aptos"/>
                <a:ea typeface="Aptos"/>
                <a:cs typeface="Aptos"/>
              </a:rPr>
              <a:t>SULCUS OS</a:t>
            </a:r>
          </a:p>
        </p:txBody>
      </p:sp>
      <p:sp>
        <p:nvSpPr>
          <p:cNvPr id="21" name="brand-rule">
            <a:extLst xmlns:a="http://schemas.openxmlformats.org/drawingml/2006/main">
              <a:ext uri="{FF2B5EF4-FFF2-40B4-BE49-F238E27FC236}">
                <a16:creationId xmlns:a16="http://schemas.microsoft.com/office/drawing/2014/main" id="{0B5CBF90-C39D-4F72-91C8-BDBCD291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D7FF"/>
            </a:solidFill>
            <a:prstDash val="solid"/>
          </a:ln>
        </p:spPr>
      </p:sp>
      <p:sp>
        <p:nvSpPr>
          <p:cNvPr id="22" name="title">
            <a:extLst xmlns:a="http://schemas.openxmlformats.org/drawingml/2006/main">
              <a:ext uri="{FF2B5EF4-FFF2-40B4-BE49-F238E27FC236}">
                <a16:creationId xmlns:a16="http://schemas.microsoft.com/office/drawing/2014/main" id="{43B8125C-1C99-405D-AE2A-2D9CDC32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Simple Analogy</a:t>
            </a:r>
          </a:p>
        </p:txBody>
      </p:sp>
      <p:sp>
        <p:nvSpPr>
          <p:cNvPr id="23" name="message">
            <a:extLst xmlns:a="http://schemas.openxmlformats.org/drawingml/2006/main">
              <a:ext uri="{FF2B5EF4-FFF2-40B4-BE49-F238E27FC236}">
                <a16:creationId xmlns:a16="http://schemas.microsoft.com/office/drawing/2014/main" id="{ADCC58FC-86A4-4A25-9541-E2072441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Traditional operating systems manage software. Sulcus OS manages agents.</a:t>
            </a:r>
          </a:p>
        </p:txBody>
      </p:sp>
      <p:sp>
        <p:nvSpPr>
          <p:cNvPr id="24" name="traditional-os">
            <a:extLst xmlns:a="http://schemas.openxmlformats.org/drawingml/2006/main">
              <a:ext uri="{FF2B5EF4-FFF2-40B4-BE49-F238E27FC236}">
                <a16:creationId xmlns:a16="http://schemas.microsoft.com/office/drawing/2014/main" id="{11193738-B9FD-4690-B0AD-21D22413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4667250" cy="30289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25" name="sulcus-os">
            <a:extLst xmlns:a="http://schemas.openxmlformats.org/drawingml/2006/main">
              <a:ext uri="{FF2B5EF4-FFF2-40B4-BE49-F238E27FC236}">
                <a16:creationId xmlns:a16="http://schemas.microsoft.com/office/drawing/2014/main" id="{F6F86DA6-432D-4A5B-84BD-148C816E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86050"/>
            <a:ext cx="4667250" cy="30289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14288">
            <a:solidFill>
              <a:srgbClr val="36D7FF"/>
            </a:solidFill>
            <a:prstDash val="solid"/>
          </a:ln>
        </p:spPr>
      </p:sp>
      <p:sp>
        <p:nvSpPr>
          <p:cNvPr id="26" name="left-title">
            <a:extLst xmlns:a="http://schemas.openxmlformats.org/drawingml/2006/main">
              <a:ext uri="{FF2B5EF4-FFF2-40B4-BE49-F238E27FC236}">
                <a16:creationId xmlns:a16="http://schemas.microsoft.com/office/drawing/2014/main" id="{0DA85C37-9EDD-4D32-8D5E-AE8E5A8B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52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Traditional OS</a:t>
            </a:r>
          </a:p>
        </p:txBody>
      </p:sp>
      <p:sp>
        <p:nvSpPr>
          <p:cNvPr id="27" name="right-title">
            <a:extLst xmlns:a="http://schemas.openxmlformats.org/drawingml/2006/main">
              <a:ext uri="{FF2B5EF4-FFF2-40B4-BE49-F238E27FC236}">
                <a16:creationId xmlns:a16="http://schemas.microsoft.com/office/drawing/2014/main" id="{318A3F0F-2899-4186-B73C-90DDC50C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52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6D7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6D7FF"/>
                </a:solidFill>
                <a:latin typeface="Aptos"/>
                <a:ea typeface="Aptos"/>
                <a:cs typeface="Aptos"/>
              </a:rPr>
              <a:t>Sulcus OS</a:t>
            </a:r>
          </a:p>
        </p:txBody>
      </p:sp>
      <p:sp>
        <p:nvSpPr>
          <p:cNvPr id="28" name="pill">
            <a:extLst xmlns:a="http://schemas.openxmlformats.org/drawingml/2006/main">
              <a:ext uri="{FF2B5EF4-FFF2-40B4-BE49-F238E27FC236}">
                <a16:creationId xmlns:a16="http://schemas.microsoft.com/office/drawing/2014/main" id="{C6FAB96B-AFD9-49C1-9F65-2181CC67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24250"/>
            <a:ext cx="1619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235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29" name="pill-label">
            <a:extLst xmlns:a="http://schemas.openxmlformats.org/drawingml/2006/main">
              <a:ext uri="{FF2B5EF4-FFF2-40B4-BE49-F238E27FC236}">
                <a16:creationId xmlns:a16="http://schemas.microsoft.com/office/drawing/2014/main" id="{D47E5F1E-AB12-4063-9930-42E75682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004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Apps</a:t>
            </a:r>
          </a:p>
        </p:txBody>
      </p:sp>
      <p:sp>
        <p:nvSpPr>
          <p:cNvPr id="30" name="pill">
            <a:extLst xmlns:a="http://schemas.openxmlformats.org/drawingml/2006/main">
              <a:ext uri="{FF2B5EF4-FFF2-40B4-BE49-F238E27FC236}">
                <a16:creationId xmlns:a16="http://schemas.microsoft.com/office/drawing/2014/main" id="{5DA15DBF-CE79-4947-BF85-9A4ADB62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67150"/>
            <a:ext cx="1619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235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1" name="pill-label">
            <a:extLst xmlns:a="http://schemas.openxmlformats.org/drawingml/2006/main">
              <a:ext uri="{FF2B5EF4-FFF2-40B4-BE49-F238E27FC236}">
                <a16:creationId xmlns:a16="http://schemas.microsoft.com/office/drawing/2014/main" id="{81991896-B65B-4317-9858-0E5EB19F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433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Processes</a:t>
            </a:r>
          </a:p>
        </p:txBody>
      </p:sp>
      <p:sp>
        <p:nvSpPr>
          <p:cNvPr id="32" name="pill">
            <a:extLst xmlns:a="http://schemas.openxmlformats.org/drawingml/2006/main">
              <a:ext uri="{FF2B5EF4-FFF2-40B4-BE49-F238E27FC236}">
                <a16:creationId xmlns:a16="http://schemas.microsoft.com/office/drawing/2014/main" id="{E1DA3771-4D2D-4B1B-A790-E8D9F638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0050"/>
            <a:ext cx="1619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235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3" name="pill-label">
            <a:extLst xmlns:a="http://schemas.openxmlformats.org/drawingml/2006/main">
              <a:ext uri="{FF2B5EF4-FFF2-40B4-BE49-F238E27FC236}">
                <a16:creationId xmlns:a16="http://schemas.microsoft.com/office/drawing/2014/main" id="{41297899-4145-4E35-BB8C-047D90B7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862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34" name="pill">
            <a:extLst xmlns:a="http://schemas.openxmlformats.org/drawingml/2006/main">
              <a:ext uri="{FF2B5EF4-FFF2-40B4-BE49-F238E27FC236}">
                <a16:creationId xmlns:a16="http://schemas.microsoft.com/office/drawing/2014/main" id="{5CF68542-4D9E-4EEC-8B01-6232A075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1619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235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5" name="pill-label">
            <a:extLst xmlns:a="http://schemas.openxmlformats.org/drawingml/2006/main">
              <a:ext uri="{FF2B5EF4-FFF2-40B4-BE49-F238E27FC236}">
                <a16:creationId xmlns:a16="http://schemas.microsoft.com/office/drawing/2014/main" id="{1BD7905A-449D-4C0B-AB6B-BF55AAE8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291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Files</a:t>
            </a:r>
          </a:p>
        </p:txBody>
      </p:sp>
      <p:sp>
        <p:nvSpPr>
          <p:cNvPr id="36" name="pill">
            <a:extLst xmlns:a="http://schemas.openxmlformats.org/drawingml/2006/main">
              <a:ext uri="{FF2B5EF4-FFF2-40B4-BE49-F238E27FC236}">
                <a16:creationId xmlns:a16="http://schemas.microsoft.com/office/drawing/2014/main" id="{02A21CFC-C5BA-4939-894E-CB005966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95850"/>
            <a:ext cx="1619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235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7" name="pill-label">
            <a:extLst xmlns:a="http://schemas.openxmlformats.org/drawingml/2006/main">
              <a:ext uri="{FF2B5EF4-FFF2-40B4-BE49-F238E27FC236}">
                <a16:creationId xmlns:a16="http://schemas.microsoft.com/office/drawing/2014/main" id="{5E98510D-1200-43C2-9CAF-5EDD42F4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720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Permissions</a:t>
            </a:r>
          </a:p>
        </p:txBody>
      </p:sp>
      <p:sp>
        <p:nvSpPr>
          <p:cNvPr id="38" name="pill">
            <a:extLst xmlns:a="http://schemas.openxmlformats.org/drawingml/2006/main">
              <a:ext uri="{FF2B5EF4-FFF2-40B4-BE49-F238E27FC236}">
                <a16:creationId xmlns:a16="http://schemas.microsoft.com/office/drawing/2014/main" id="{439B6DBE-2940-40EF-9B79-A1BEBE9F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38750"/>
            <a:ext cx="1619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235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9" name="pill-label">
            <a:extLst xmlns:a="http://schemas.openxmlformats.org/drawingml/2006/main">
              <a:ext uri="{FF2B5EF4-FFF2-40B4-BE49-F238E27FC236}">
                <a16:creationId xmlns:a16="http://schemas.microsoft.com/office/drawing/2014/main" id="{4CCCB792-85D6-4E62-A30E-08644671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Hardware</a:t>
            </a:r>
          </a:p>
        </p:txBody>
      </p:sp>
      <p:sp>
        <p:nvSpPr>
          <p:cNvPr id="40" name="pill">
            <a:extLst xmlns:a="http://schemas.openxmlformats.org/drawingml/2006/main">
              <a:ext uri="{FF2B5EF4-FFF2-40B4-BE49-F238E27FC236}">
                <a16:creationId xmlns:a16="http://schemas.microsoft.com/office/drawing/2014/main" id="{9EC0BE41-7A96-4E3D-9797-CC06C896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2425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49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41" name="pill-label">
            <a:extLst xmlns:a="http://schemas.openxmlformats.org/drawingml/2006/main">
              <a:ext uri="{FF2B5EF4-FFF2-40B4-BE49-F238E27FC236}">
                <a16:creationId xmlns:a16="http://schemas.microsoft.com/office/drawing/2014/main" id="{5826819E-6C59-460A-AD95-21C74A4D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004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Agents</a:t>
            </a:r>
          </a:p>
        </p:txBody>
      </p:sp>
      <p:sp>
        <p:nvSpPr>
          <p:cNvPr id="42" name="pill">
            <a:extLst xmlns:a="http://schemas.openxmlformats.org/drawingml/2006/main">
              <a:ext uri="{FF2B5EF4-FFF2-40B4-BE49-F238E27FC236}">
                <a16:creationId xmlns:a16="http://schemas.microsoft.com/office/drawing/2014/main" id="{0B7D6926-8581-4B5B-BC4A-456F6D36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6715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49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43" name="pill-label">
            <a:extLst xmlns:a="http://schemas.openxmlformats.org/drawingml/2006/main">
              <a:ext uri="{FF2B5EF4-FFF2-40B4-BE49-F238E27FC236}">
                <a16:creationId xmlns:a16="http://schemas.microsoft.com/office/drawing/2014/main" id="{8EA0D247-C7BA-40C2-A4E3-B21395CD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433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44" name="pill">
            <a:extLst xmlns:a="http://schemas.openxmlformats.org/drawingml/2006/main">
              <a:ext uri="{FF2B5EF4-FFF2-40B4-BE49-F238E27FC236}">
                <a16:creationId xmlns:a16="http://schemas.microsoft.com/office/drawing/2014/main" id="{E086EB92-776E-42D7-B46C-4978B08E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1005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49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45" name="pill-label">
            <a:extLst xmlns:a="http://schemas.openxmlformats.org/drawingml/2006/main">
              <a:ext uri="{FF2B5EF4-FFF2-40B4-BE49-F238E27FC236}">
                <a16:creationId xmlns:a16="http://schemas.microsoft.com/office/drawing/2014/main" id="{0329A2CB-B82C-49F2-A071-D9411C1D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862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46" name="pill">
            <a:extLst xmlns:a="http://schemas.openxmlformats.org/drawingml/2006/main">
              <a:ext uri="{FF2B5EF4-FFF2-40B4-BE49-F238E27FC236}">
                <a16:creationId xmlns:a16="http://schemas.microsoft.com/office/drawing/2014/main" id="{47780A0B-A9DC-45EA-9BCA-464A1D04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5295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49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47" name="pill-label">
            <a:extLst xmlns:a="http://schemas.openxmlformats.org/drawingml/2006/main">
              <a:ext uri="{FF2B5EF4-FFF2-40B4-BE49-F238E27FC236}">
                <a16:creationId xmlns:a16="http://schemas.microsoft.com/office/drawing/2014/main" id="{33D429EA-2610-45A0-8A35-66970B2D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291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Timelines</a:t>
            </a:r>
          </a:p>
        </p:txBody>
      </p:sp>
      <p:sp>
        <p:nvSpPr>
          <p:cNvPr id="48" name="pill">
            <a:extLst xmlns:a="http://schemas.openxmlformats.org/drawingml/2006/main">
              <a:ext uri="{FF2B5EF4-FFF2-40B4-BE49-F238E27FC236}">
                <a16:creationId xmlns:a16="http://schemas.microsoft.com/office/drawing/2014/main" id="{2FAEBCA0-3CEE-4117-8C3E-9FE74DE1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9585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49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49" name="pill-label">
            <a:extLst xmlns:a="http://schemas.openxmlformats.org/drawingml/2006/main">
              <a:ext uri="{FF2B5EF4-FFF2-40B4-BE49-F238E27FC236}">
                <a16:creationId xmlns:a16="http://schemas.microsoft.com/office/drawing/2014/main" id="{97B23343-ED36-42ED-84E3-64C0EB04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Permissions</a:t>
            </a:r>
          </a:p>
        </p:txBody>
      </p:sp>
      <p:sp>
        <p:nvSpPr>
          <p:cNvPr id="50" name="pill">
            <a:extLst xmlns:a="http://schemas.openxmlformats.org/drawingml/2006/main">
              <a:ext uri="{FF2B5EF4-FFF2-40B4-BE49-F238E27FC236}">
                <a16:creationId xmlns:a16="http://schemas.microsoft.com/office/drawing/2014/main" id="{088C6AD4-DB71-4BD8-8EB4-95DCED6A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3875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49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51" name="pill-label">
            <a:extLst xmlns:a="http://schemas.openxmlformats.org/drawingml/2006/main">
              <a:ext uri="{FF2B5EF4-FFF2-40B4-BE49-F238E27FC236}">
                <a16:creationId xmlns:a16="http://schemas.microsoft.com/office/drawing/2014/main" id="{01384359-B31D-40E1-818E-1F2B3C7C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149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Workflows</a:t>
            </a:r>
          </a:p>
        </p:txBody>
      </p:sp>
      <p:sp>
        <p:nvSpPr>
          <p:cNvPr id="52" name="map-0">
            <a:extLst xmlns:a="http://schemas.openxmlformats.org/drawingml/2006/main">
              <a:ext uri="{FF2B5EF4-FFF2-40B4-BE49-F238E27FC236}">
                <a16:creationId xmlns:a16="http://schemas.microsoft.com/office/drawing/2014/main" id="{352AA0AC-F804-406B-A68E-6A9F8BB7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05225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E92"/>
            </a:solidFill>
            <a:prstDash val="dash"/>
          </a:ln>
        </p:spPr>
      </p:sp>
      <p:sp>
        <p:nvSpPr>
          <p:cNvPr id="53" name="map-1">
            <a:extLst xmlns:a="http://schemas.openxmlformats.org/drawingml/2006/main">
              <a:ext uri="{FF2B5EF4-FFF2-40B4-BE49-F238E27FC236}">
                <a16:creationId xmlns:a16="http://schemas.microsoft.com/office/drawing/2014/main" id="{72D6A81B-45F9-46D4-9743-8C77C89C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48125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E92"/>
            </a:solidFill>
            <a:prstDash val="dash"/>
          </a:ln>
        </p:spPr>
      </p:sp>
      <p:sp>
        <p:nvSpPr>
          <p:cNvPr id="54" name="map-2">
            <a:extLst xmlns:a="http://schemas.openxmlformats.org/drawingml/2006/main">
              <a:ext uri="{FF2B5EF4-FFF2-40B4-BE49-F238E27FC236}">
                <a16:creationId xmlns:a16="http://schemas.microsoft.com/office/drawing/2014/main" id="{6C97E263-15E1-4C7F-B315-04D6C92A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91025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E92"/>
            </a:solidFill>
            <a:prstDash val="dash"/>
          </a:ln>
        </p:spPr>
      </p:sp>
      <p:sp>
        <p:nvSpPr>
          <p:cNvPr id="55" name="map-3">
            <a:extLst xmlns:a="http://schemas.openxmlformats.org/drawingml/2006/main">
              <a:ext uri="{FF2B5EF4-FFF2-40B4-BE49-F238E27FC236}">
                <a16:creationId xmlns:a16="http://schemas.microsoft.com/office/drawing/2014/main" id="{50A593C1-A5C1-4DE8-9823-E7E7872C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33925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E92"/>
            </a:solidFill>
            <a:prstDash val="dash"/>
          </a:ln>
        </p:spPr>
      </p:sp>
      <p:sp>
        <p:nvSpPr>
          <p:cNvPr id="56" name="map-4">
            <a:extLst xmlns:a="http://schemas.openxmlformats.org/drawingml/2006/main">
              <a:ext uri="{FF2B5EF4-FFF2-40B4-BE49-F238E27FC236}">
                <a16:creationId xmlns:a16="http://schemas.microsoft.com/office/drawing/2014/main" id="{6F46CC48-CF74-4833-BC40-1A50EFD0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76825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E92"/>
            </a:solidFill>
            <a:prstDash val="dash"/>
          </a:ln>
        </p:spPr>
      </p:sp>
      <p:sp>
        <p:nvSpPr>
          <p:cNvPr id="57" name="map-5">
            <a:extLst xmlns:a="http://schemas.openxmlformats.org/drawingml/2006/main">
              <a:ext uri="{FF2B5EF4-FFF2-40B4-BE49-F238E27FC236}">
                <a16:creationId xmlns:a16="http://schemas.microsoft.com/office/drawing/2014/main" id="{7241D230-2021-4750-9FB1-E2AD6459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419725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F7E92"/>
            </a:solidFill>
            <a:prstDash val="dash"/>
          </a:ln>
        </p:spPr>
      </p:sp>
    </p:spTree>
    <p:extLst>
      <p:ext uri="{BB962C8B-B14F-4D97-AF65-F5344CB8AC3E}">
        <p14:creationId xmlns:p14="http://schemas.microsoft.com/office/powerpoint/2010/main" val="18360194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04C5AA0-2BB2-4B20-8471-30D482FA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2" name="bg-base">
            <a:extLst xmlns:a="http://schemas.openxmlformats.org/drawingml/2006/main">
              <a:ext uri="{FF2B5EF4-FFF2-40B4-BE49-F238E27FC236}">
                <a16:creationId xmlns:a16="http://schemas.microsoft.com/office/drawing/2014/main" id="{8F9CC166-D585-410E-8A58-373B4291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34DBF699-08AA-4C63-89FE-0E0BC827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4" name="grid-v-1">
            <a:extLst xmlns:a="http://schemas.openxmlformats.org/drawingml/2006/main">
              <a:ext uri="{FF2B5EF4-FFF2-40B4-BE49-F238E27FC236}">
                <a16:creationId xmlns:a16="http://schemas.microsoft.com/office/drawing/2014/main" id="{71C0D0E6-25A7-4850-A344-AE810A12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5" name="grid-v-2">
            <a:extLst xmlns:a="http://schemas.openxmlformats.org/drawingml/2006/main">
              <a:ext uri="{FF2B5EF4-FFF2-40B4-BE49-F238E27FC236}">
                <a16:creationId xmlns:a16="http://schemas.microsoft.com/office/drawing/2014/main" id="{7D260D8B-CB66-4610-A9DE-DA5826B2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6" name="grid-v-3">
            <a:extLst xmlns:a="http://schemas.openxmlformats.org/drawingml/2006/main">
              <a:ext uri="{FF2B5EF4-FFF2-40B4-BE49-F238E27FC236}">
                <a16:creationId xmlns:a16="http://schemas.microsoft.com/office/drawing/2014/main" id="{BE047111-1D9E-4307-AC93-79C3E254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7" name="grid-v-4">
            <a:extLst xmlns:a="http://schemas.openxmlformats.org/drawingml/2006/main">
              <a:ext uri="{FF2B5EF4-FFF2-40B4-BE49-F238E27FC236}">
                <a16:creationId xmlns:a16="http://schemas.microsoft.com/office/drawing/2014/main" id="{EAD26B32-4C62-4B4D-97F6-324509AF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8" name="grid-v-5">
            <a:extLst xmlns:a="http://schemas.openxmlformats.org/drawingml/2006/main">
              <a:ext uri="{FF2B5EF4-FFF2-40B4-BE49-F238E27FC236}">
                <a16:creationId xmlns:a16="http://schemas.microsoft.com/office/drawing/2014/main" id="{BECCFCDD-33F2-470A-9B87-F720A5F2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9" name="grid-v-6">
            <a:extLst xmlns:a="http://schemas.openxmlformats.org/drawingml/2006/main">
              <a:ext uri="{FF2B5EF4-FFF2-40B4-BE49-F238E27FC236}">
                <a16:creationId xmlns:a16="http://schemas.microsoft.com/office/drawing/2014/main" id="{65C6188E-2C34-4E14-9919-0D371C4B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0" name="grid-v-7">
            <a:extLst xmlns:a="http://schemas.openxmlformats.org/drawingml/2006/main">
              <a:ext uri="{FF2B5EF4-FFF2-40B4-BE49-F238E27FC236}">
                <a16:creationId xmlns:a16="http://schemas.microsoft.com/office/drawing/2014/main" id="{6BECD954-4AA4-4572-ABD1-CA97CA9E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1" name="grid-v-8">
            <a:extLst xmlns:a="http://schemas.openxmlformats.org/drawingml/2006/main">
              <a:ext uri="{FF2B5EF4-FFF2-40B4-BE49-F238E27FC236}">
                <a16:creationId xmlns:a16="http://schemas.microsoft.com/office/drawing/2014/main" id="{62BE77BA-74DB-4711-BF46-F934C68A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2" name="grid-v-9">
            <a:extLst xmlns:a="http://schemas.openxmlformats.org/drawingml/2006/main">
              <a:ext uri="{FF2B5EF4-FFF2-40B4-BE49-F238E27FC236}">
                <a16:creationId xmlns:a16="http://schemas.microsoft.com/office/drawing/2014/main" id="{9F9935DA-511B-4B35-BDBE-9E90D91B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3" name="grid-h-0">
            <a:extLst xmlns:a="http://schemas.openxmlformats.org/drawingml/2006/main">
              <a:ext uri="{FF2B5EF4-FFF2-40B4-BE49-F238E27FC236}">
                <a16:creationId xmlns:a16="http://schemas.microsoft.com/office/drawing/2014/main" id="{303F9833-4548-45DA-BC7F-B692FC37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4" name="grid-h-1">
            <a:extLst xmlns:a="http://schemas.openxmlformats.org/drawingml/2006/main">
              <a:ext uri="{FF2B5EF4-FFF2-40B4-BE49-F238E27FC236}">
                <a16:creationId xmlns:a16="http://schemas.microsoft.com/office/drawing/2014/main" id="{B95C370C-420C-4845-8170-8B258AC6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5" name="grid-h-2">
            <a:extLst xmlns:a="http://schemas.openxmlformats.org/drawingml/2006/main">
              <a:ext uri="{FF2B5EF4-FFF2-40B4-BE49-F238E27FC236}">
                <a16:creationId xmlns:a16="http://schemas.microsoft.com/office/drawing/2014/main" id="{862A2300-0BDA-47EE-84C3-4D0F3B92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C7052BE6-2150-4872-9862-DA292326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7" name="grid-h-4">
            <a:extLst xmlns:a="http://schemas.openxmlformats.org/drawingml/2006/main">
              <a:ext uri="{FF2B5EF4-FFF2-40B4-BE49-F238E27FC236}">
                <a16:creationId xmlns:a16="http://schemas.microsoft.com/office/drawing/2014/main" id="{ED13F749-479D-4DA8-A2C7-3B602E09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8" name="accent-glow">
            <a:extLst xmlns:a="http://schemas.openxmlformats.org/drawingml/2006/main">
              <a:ext uri="{FF2B5EF4-FFF2-40B4-BE49-F238E27FC236}">
                <a16:creationId xmlns:a16="http://schemas.microsoft.com/office/drawing/2014/main" id="{F759B077-3B1F-40E1-9C01-286F83E1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42875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A70"/>
          </a:solidFill>
          <a:ln xmlns:a="http://schemas.openxmlformats.org/drawingml/2006/main" w="0">
            <a:solidFill>
              <a:srgbClr val="0A5A70"/>
            </a:solidFill>
            <a:prstDash val="solid"/>
          </a:ln>
        </p:spPr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A2093C0-D83B-4262-BE4D-C880D412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E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E9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0" name="brand">
            <a:extLst xmlns:a="http://schemas.openxmlformats.org/drawingml/2006/main">
              <a:ext uri="{FF2B5EF4-FFF2-40B4-BE49-F238E27FC236}">
                <a16:creationId xmlns:a16="http://schemas.microsoft.com/office/drawing/2014/main" id="{1614A250-D36F-4D57-B578-B97AF2D2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6D7FF"/>
                </a:solidFill>
                <a:latin typeface="Aptos"/>
                <a:ea typeface="Aptos"/>
                <a:cs typeface="Aptos"/>
              </a:rPr>
              <a:t>SULCUS OS</a:t>
            </a:r>
          </a:p>
        </p:txBody>
      </p:sp>
      <p:sp>
        <p:nvSpPr>
          <p:cNvPr id="21" name="brand-rule">
            <a:extLst xmlns:a="http://schemas.openxmlformats.org/drawingml/2006/main">
              <a:ext uri="{FF2B5EF4-FFF2-40B4-BE49-F238E27FC236}">
                <a16:creationId xmlns:a16="http://schemas.microsoft.com/office/drawing/2014/main" id="{5A4091C9-C302-428E-8328-23094398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D7FF"/>
            </a:solidFill>
            <a:prstDash val="solid"/>
          </a:ln>
        </p:spPr>
      </p:sp>
      <p:sp>
        <p:nvSpPr>
          <p:cNvPr id="22" name="title">
            <a:extLst xmlns:a="http://schemas.openxmlformats.org/drawingml/2006/main">
              <a:ext uri="{FF2B5EF4-FFF2-40B4-BE49-F238E27FC236}">
                <a16:creationId xmlns:a16="http://schemas.microsoft.com/office/drawing/2014/main" id="{5CD372EF-E1BC-4503-9324-54A5FB25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Current Development</a:t>
            </a:r>
          </a:p>
        </p:txBody>
      </p:sp>
      <p:sp>
        <p:nvSpPr>
          <p:cNvPr id="23" name="message">
            <a:extLst xmlns:a="http://schemas.openxmlformats.org/drawingml/2006/main">
              <a:ext uri="{FF2B5EF4-FFF2-40B4-BE49-F238E27FC236}">
                <a16:creationId xmlns:a16="http://schemas.microsoft.com/office/drawing/2014/main" id="{940BE9D6-549E-4EF2-A641-7BA71354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The early technical foundation is already underway.</a:t>
            </a:r>
          </a:p>
        </p:txBody>
      </p:sp>
      <p:sp>
        <p:nvSpPr>
          <p:cNvPr id="24" name="card">
            <a:extLst xmlns:a="http://schemas.openxmlformats.org/drawingml/2006/main">
              <a:ext uri="{FF2B5EF4-FFF2-40B4-BE49-F238E27FC236}">
                <a16:creationId xmlns:a16="http://schemas.microsoft.com/office/drawing/2014/main" id="{4DE4BE67-8875-4200-86D0-17EFE7A8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7907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36D7FF"/>
            </a:solidFill>
            <a:prstDash val="solid"/>
          </a:ln>
        </p:spPr>
      </p:sp>
      <p:sp>
        <p:nvSpPr>
          <p:cNvPr id="25" name="card-label">
            <a:extLst xmlns:a="http://schemas.openxmlformats.org/drawingml/2006/main">
              <a:ext uri="{FF2B5EF4-FFF2-40B4-BE49-F238E27FC236}">
                <a16:creationId xmlns:a16="http://schemas.microsoft.com/office/drawing/2014/main" id="{31D7921A-6AE9-48D7-A964-7469B752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7657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Agent process model</a:t>
            </a:r>
          </a:p>
        </p:txBody>
      </p:sp>
      <p:sp>
        <p:nvSpPr>
          <p:cNvPr id="26" name="card">
            <a:extLst xmlns:a="http://schemas.openxmlformats.org/drawingml/2006/main">
              <a:ext uri="{FF2B5EF4-FFF2-40B4-BE49-F238E27FC236}">
                <a16:creationId xmlns:a16="http://schemas.microsoft.com/office/drawing/2014/main" id="{F1FC7C99-9951-4CFC-96BF-B667D5DF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57500"/>
            <a:ext cx="17907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36D7FF"/>
            </a:solidFill>
            <a:prstDash val="solid"/>
          </a:ln>
        </p:spPr>
      </p:sp>
      <p:sp>
        <p:nvSpPr>
          <p:cNvPr id="27" name="card-label">
            <a:extLst xmlns:a="http://schemas.openxmlformats.org/drawingml/2006/main">
              <a:ext uri="{FF2B5EF4-FFF2-40B4-BE49-F238E27FC236}">
                <a16:creationId xmlns:a16="http://schemas.microsoft.com/office/drawing/2014/main" id="{92524216-CBF0-4D7B-8BC4-74ABA8BE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7657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SDK facade</a:t>
            </a:r>
          </a:p>
        </p:txBody>
      </p:sp>
      <p:sp>
        <p:nvSpPr>
          <p:cNvPr id="28" name="card">
            <a:extLst xmlns:a="http://schemas.openxmlformats.org/drawingml/2006/main">
              <a:ext uri="{FF2B5EF4-FFF2-40B4-BE49-F238E27FC236}">
                <a16:creationId xmlns:a16="http://schemas.microsoft.com/office/drawing/2014/main" id="{0428ECBF-C384-4ED4-AB21-D1699C6B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57500"/>
            <a:ext cx="17907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36D7FF"/>
            </a:solidFill>
            <a:prstDash val="solid"/>
          </a:ln>
        </p:spPr>
      </p:sp>
      <p:sp>
        <p:nvSpPr>
          <p:cNvPr id="29" name="card-label">
            <a:extLst xmlns:a="http://schemas.openxmlformats.org/drawingml/2006/main">
              <a:ext uri="{FF2B5EF4-FFF2-40B4-BE49-F238E27FC236}">
                <a16:creationId xmlns:a16="http://schemas.microsoft.com/office/drawing/2014/main" id="{1733D6F6-5832-4B9B-883C-D52F2935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7657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IPC/message passing</a:t>
            </a:r>
          </a:p>
        </p:txBody>
      </p:sp>
      <p:sp>
        <p:nvSpPr>
          <p:cNvPr id="30" name="card">
            <a:extLst xmlns:a="http://schemas.openxmlformats.org/drawingml/2006/main">
              <a:ext uri="{FF2B5EF4-FFF2-40B4-BE49-F238E27FC236}">
                <a16:creationId xmlns:a16="http://schemas.microsoft.com/office/drawing/2014/main" id="{BDD3E0A0-D763-456F-9C7D-DFB54CC5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17907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36D7FF"/>
            </a:solidFill>
            <a:prstDash val="solid"/>
          </a:ln>
        </p:spPr>
      </p:sp>
      <p:sp>
        <p:nvSpPr>
          <p:cNvPr id="31" name="card-label">
            <a:extLst xmlns:a="http://schemas.openxmlformats.org/drawingml/2006/main">
              <a:ext uri="{FF2B5EF4-FFF2-40B4-BE49-F238E27FC236}">
                <a16:creationId xmlns:a16="http://schemas.microsoft.com/office/drawing/2014/main" id="{61D26222-371E-467F-8CF3-F0426B22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7657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Runtime dashboard</a:t>
            </a:r>
          </a:p>
        </p:txBody>
      </p:sp>
      <p:sp>
        <p:nvSpPr>
          <p:cNvPr id="32" name="card">
            <a:extLst xmlns:a="http://schemas.openxmlformats.org/drawingml/2006/main">
              <a:ext uri="{FF2B5EF4-FFF2-40B4-BE49-F238E27FC236}">
                <a16:creationId xmlns:a16="http://schemas.microsoft.com/office/drawing/2014/main" id="{ACC80649-ED0B-40DA-9B0C-D707C289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0"/>
            <a:ext cx="17907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3" name="card-label">
            <a:extLst xmlns:a="http://schemas.openxmlformats.org/drawingml/2006/main">
              <a:ext uri="{FF2B5EF4-FFF2-40B4-BE49-F238E27FC236}">
                <a16:creationId xmlns:a16="http://schemas.microsoft.com/office/drawing/2014/main" id="{38610D15-040E-495B-B67B-D03EF6D0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7657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Memory paging</a:t>
            </a:r>
          </a:p>
        </p:txBody>
      </p:sp>
      <p:sp>
        <p:nvSpPr>
          <p:cNvPr id="34" name="card">
            <a:extLst xmlns:a="http://schemas.openxmlformats.org/drawingml/2006/main">
              <a:ext uri="{FF2B5EF4-FFF2-40B4-BE49-F238E27FC236}">
                <a16:creationId xmlns:a16="http://schemas.microsoft.com/office/drawing/2014/main" id="{7415E385-2C86-441E-B5DC-29F4F2F2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17907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5" name="card-label">
            <a:extLst xmlns:a="http://schemas.openxmlformats.org/drawingml/2006/main">
              <a:ext uri="{FF2B5EF4-FFF2-40B4-BE49-F238E27FC236}">
                <a16:creationId xmlns:a16="http://schemas.microsoft.com/office/drawing/2014/main" id="{3CD8ADD0-865D-4229-B76A-15C506C6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4337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Process registry</a:t>
            </a:r>
          </a:p>
        </p:txBody>
      </p:sp>
      <p:sp>
        <p:nvSpPr>
          <p:cNvPr id="36" name="card">
            <a:extLst xmlns:a="http://schemas.openxmlformats.org/drawingml/2006/main">
              <a:ext uri="{FF2B5EF4-FFF2-40B4-BE49-F238E27FC236}">
                <a16:creationId xmlns:a16="http://schemas.microsoft.com/office/drawing/2014/main" id="{B0360B72-16FD-466B-B9CD-C1140A65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924300"/>
            <a:ext cx="17907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7" name="card-label">
            <a:extLst xmlns:a="http://schemas.openxmlformats.org/drawingml/2006/main">
              <a:ext uri="{FF2B5EF4-FFF2-40B4-BE49-F238E27FC236}">
                <a16:creationId xmlns:a16="http://schemas.microsoft.com/office/drawing/2014/main" id="{33C0DDDB-E54C-49ED-A5E7-1F544357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4337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Timeline and replay</a:t>
            </a:r>
          </a:p>
        </p:txBody>
      </p:sp>
      <p:sp>
        <p:nvSpPr>
          <p:cNvPr id="38" name="card">
            <a:extLst xmlns:a="http://schemas.openxmlformats.org/drawingml/2006/main">
              <a:ext uri="{FF2B5EF4-FFF2-40B4-BE49-F238E27FC236}">
                <a16:creationId xmlns:a16="http://schemas.microsoft.com/office/drawing/2014/main" id="{0A19349F-907F-46D8-975D-B101752D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924300"/>
            <a:ext cx="17907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9" name="card-label">
            <a:extLst xmlns:a="http://schemas.openxmlformats.org/drawingml/2006/main">
              <a:ext uri="{FF2B5EF4-FFF2-40B4-BE49-F238E27FC236}">
                <a16:creationId xmlns:a16="http://schemas.microsoft.com/office/drawing/2014/main" id="{4274DC20-A79D-4847-9B4C-5D7E4D22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4337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Tool runtime</a:t>
            </a:r>
          </a:p>
        </p:txBody>
      </p:sp>
      <p:sp>
        <p:nvSpPr>
          <p:cNvPr id="40" name="card">
            <a:extLst xmlns:a="http://schemas.openxmlformats.org/drawingml/2006/main">
              <a:ext uri="{FF2B5EF4-FFF2-40B4-BE49-F238E27FC236}">
                <a16:creationId xmlns:a16="http://schemas.microsoft.com/office/drawing/2014/main" id="{611297FC-7C02-4FE4-9172-0E99424E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24300"/>
            <a:ext cx="17907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41" name="card-label">
            <a:extLst xmlns:a="http://schemas.openxmlformats.org/drawingml/2006/main">
              <a:ext uri="{FF2B5EF4-FFF2-40B4-BE49-F238E27FC236}">
                <a16:creationId xmlns:a16="http://schemas.microsoft.com/office/drawing/2014/main" id="{957A85ED-8393-4E48-A8DB-0E875187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14337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LLM provider layer</a:t>
            </a:r>
          </a:p>
        </p:txBody>
      </p:sp>
      <p:sp>
        <p:nvSpPr>
          <p:cNvPr id="42" name="card">
            <a:extLst xmlns:a="http://schemas.openxmlformats.org/drawingml/2006/main">
              <a:ext uri="{FF2B5EF4-FFF2-40B4-BE49-F238E27FC236}">
                <a16:creationId xmlns:a16="http://schemas.microsoft.com/office/drawing/2014/main" id="{7615AB65-E72F-488D-B519-0D403412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24300"/>
            <a:ext cx="17907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43" name="card-label">
            <a:extLst xmlns:a="http://schemas.openxmlformats.org/drawingml/2006/main">
              <a:ext uri="{FF2B5EF4-FFF2-40B4-BE49-F238E27FC236}">
                <a16:creationId xmlns:a16="http://schemas.microsoft.com/office/drawing/2014/main" id="{43CA855C-FAD7-40F9-A1B3-E0AFDDE3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4337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Agent tool loop</a:t>
            </a:r>
          </a:p>
        </p:txBody>
      </p:sp>
    </p:spTree>
    <p:extLst>
      <p:ext uri="{BB962C8B-B14F-4D97-AF65-F5344CB8AC3E}">
        <p14:creationId xmlns:p14="http://schemas.microsoft.com/office/powerpoint/2010/main" val="7545505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7AD9F8A-4210-4DF7-AADF-A57C66AE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2" name="bg-base">
            <a:extLst xmlns:a="http://schemas.openxmlformats.org/drawingml/2006/main">
              <a:ext uri="{FF2B5EF4-FFF2-40B4-BE49-F238E27FC236}">
                <a16:creationId xmlns:a16="http://schemas.microsoft.com/office/drawing/2014/main" id="{9785DE2B-E90B-4BCB-A3F3-394CACCA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90876E8E-2E02-4118-8936-D7239F4E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4" name="grid-v-1">
            <a:extLst xmlns:a="http://schemas.openxmlformats.org/drawingml/2006/main">
              <a:ext uri="{FF2B5EF4-FFF2-40B4-BE49-F238E27FC236}">
                <a16:creationId xmlns:a16="http://schemas.microsoft.com/office/drawing/2014/main" id="{B85F5E99-0F2A-4330-A86F-07F8817F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5" name="grid-v-2">
            <a:extLst xmlns:a="http://schemas.openxmlformats.org/drawingml/2006/main">
              <a:ext uri="{FF2B5EF4-FFF2-40B4-BE49-F238E27FC236}">
                <a16:creationId xmlns:a16="http://schemas.microsoft.com/office/drawing/2014/main" id="{D94FF173-FBD4-4A3D-A0D8-09A8B23F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6" name="grid-v-3">
            <a:extLst xmlns:a="http://schemas.openxmlformats.org/drawingml/2006/main">
              <a:ext uri="{FF2B5EF4-FFF2-40B4-BE49-F238E27FC236}">
                <a16:creationId xmlns:a16="http://schemas.microsoft.com/office/drawing/2014/main" id="{5EE3160B-B41A-4048-AE41-B16EA653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7" name="grid-v-4">
            <a:extLst xmlns:a="http://schemas.openxmlformats.org/drawingml/2006/main">
              <a:ext uri="{FF2B5EF4-FFF2-40B4-BE49-F238E27FC236}">
                <a16:creationId xmlns:a16="http://schemas.microsoft.com/office/drawing/2014/main" id="{C5D58C8A-6077-49F5-A94F-0939F10C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8" name="grid-v-5">
            <a:extLst xmlns:a="http://schemas.openxmlformats.org/drawingml/2006/main">
              <a:ext uri="{FF2B5EF4-FFF2-40B4-BE49-F238E27FC236}">
                <a16:creationId xmlns:a16="http://schemas.microsoft.com/office/drawing/2014/main" id="{1CC34380-2444-47C5-9E94-CBBE12D5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9" name="grid-v-6">
            <a:extLst xmlns:a="http://schemas.openxmlformats.org/drawingml/2006/main">
              <a:ext uri="{FF2B5EF4-FFF2-40B4-BE49-F238E27FC236}">
                <a16:creationId xmlns:a16="http://schemas.microsoft.com/office/drawing/2014/main" id="{E3865EEA-CCBD-4C14-BE79-A6CF29D1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0" name="grid-v-7">
            <a:extLst xmlns:a="http://schemas.openxmlformats.org/drawingml/2006/main">
              <a:ext uri="{FF2B5EF4-FFF2-40B4-BE49-F238E27FC236}">
                <a16:creationId xmlns:a16="http://schemas.microsoft.com/office/drawing/2014/main" id="{CCFBF50C-F60F-41AC-9FC2-F2CE8BFC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1" name="grid-v-8">
            <a:extLst xmlns:a="http://schemas.openxmlformats.org/drawingml/2006/main">
              <a:ext uri="{FF2B5EF4-FFF2-40B4-BE49-F238E27FC236}">
                <a16:creationId xmlns:a16="http://schemas.microsoft.com/office/drawing/2014/main" id="{97A7DACC-54EA-4D00-9CE1-66A1519A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2" name="grid-v-9">
            <a:extLst xmlns:a="http://schemas.openxmlformats.org/drawingml/2006/main">
              <a:ext uri="{FF2B5EF4-FFF2-40B4-BE49-F238E27FC236}">
                <a16:creationId xmlns:a16="http://schemas.microsoft.com/office/drawing/2014/main" id="{CE5A81BB-A5E3-4161-8352-164819D4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3" name="grid-h-0">
            <a:extLst xmlns:a="http://schemas.openxmlformats.org/drawingml/2006/main">
              <a:ext uri="{FF2B5EF4-FFF2-40B4-BE49-F238E27FC236}">
                <a16:creationId xmlns:a16="http://schemas.microsoft.com/office/drawing/2014/main" id="{E335E878-7059-43D0-900B-6D5D6CAC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4" name="grid-h-1">
            <a:extLst xmlns:a="http://schemas.openxmlformats.org/drawingml/2006/main">
              <a:ext uri="{FF2B5EF4-FFF2-40B4-BE49-F238E27FC236}">
                <a16:creationId xmlns:a16="http://schemas.microsoft.com/office/drawing/2014/main" id="{DC510814-B660-4F15-9042-F5C496B7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5" name="grid-h-2">
            <a:extLst xmlns:a="http://schemas.openxmlformats.org/drawingml/2006/main">
              <a:ext uri="{FF2B5EF4-FFF2-40B4-BE49-F238E27FC236}">
                <a16:creationId xmlns:a16="http://schemas.microsoft.com/office/drawing/2014/main" id="{B2FC7459-91EB-4EF3-BAF2-7FF641D1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660A3B09-46CD-4209-ADD1-0C9AFD6F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7" name="grid-h-4">
            <a:extLst xmlns:a="http://schemas.openxmlformats.org/drawingml/2006/main">
              <a:ext uri="{FF2B5EF4-FFF2-40B4-BE49-F238E27FC236}">
                <a16:creationId xmlns:a16="http://schemas.microsoft.com/office/drawing/2014/main" id="{641ACEB3-A4EA-4C28-B9D9-F3BF7181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8" name="accent-glow">
            <a:extLst xmlns:a="http://schemas.openxmlformats.org/drawingml/2006/main">
              <a:ext uri="{FF2B5EF4-FFF2-40B4-BE49-F238E27FC236}">
                <a16:creationId xmlns:a16="http://schemas.microsoft.com/office/drawing/2014/main" id="{C6B4AAE0-D77F-46F9-A549-E7A87171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42875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A70"/>
          </a:solidFill>
          <a:ln xmlns:a="http://schemas.openxmlformats.org/drawingml/2006/main" w="0">
            <a:solidFill>
              <a:srgbClr val="0A5A70"/>
            </a:solidFill>
            <a:prstDash val="solid"/>
          </a:ln>
        </p:spPr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8A0929B-01C4-42C3-A397-181A77FE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E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E9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0" name="brand">
            <a:extLst xmlns:a="http://schemas.openxmlformats.org/drawingml/2006/main">
              <a:ext uri="{FF2B5EF4-FFF2-40B4-BE49-F238E27FC236}">
                <a16:creationId xmlns:a16="http://schemas.microsoft.com/office/drawing/2014/main" id="{F3EB8A97-F517-415B-8926-FA5841E8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6D7FF"/>
                </a:solidFill>
                <a:latin typeface="Aptos"/>
                <a:ea typeface="Aptos"/>
                <a:cs typeface="Aptos"/>
              </a:rPr>
              <a:t>SULCUS OS</a:t>
            </a:r>
          </a:p>
        </p:txBody>
      </p:sp>
      <p:sp>
        <p:nvSpPr>
          <p:cNvPr id="21" name="brand-rule">
            <a:extLst xmlns:a="http://schemas.openxmlformats.org/drawingml/2006/main">
              <a:ext uri="{FF2B5EF4-FFF2-40B4-BE49-F238E27FC236}">
                <a16:creationId xmlns:a16="http://schemas.microsoft.com/office/drawing/2014/main" id="{93A3F716-EBF6-4D97-B7A8-29DF9A6C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D7FF"/>
            </a:solidFill>
            <a:prstDash val="solid"/>
          </a:ln>
        </p:spPr>
      </p:sp>
      <p:sp>
        <p:nvSpPr>
          <p:cNvPr id="22" name="title">
            <a:extLst xmlns:a="http://schemas.openxmlformats.org/drawingml/2006/main">
              <a:ext uri="{FF2B5EF4-FFF2-40B4-BE49-F238E27FC236}">
                <a16:creationId xmlns:a16="http://schemas.microsoft.com/office/drawing/2014/main" id="{8078A427-A7F8-4F5A-8F4A-FAD606FB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Differentiation</a:t>
            </a:r>
          </a:p>
        </p:txBody>
      </p:sp>
      <p:sp>
        <p:nvSpPr>
          <p:cNvPr id="23" name="message">
            <a:extLst xmlns:a="http://schemas.openxmlformats.org/drawingml/2006/main">
              <a:ext uri="{FF2B5EF4-FFF2-40B4-BE49-F238E27FC236}">
                <a16:creationId xmlns:a16="http://schemas.microsoft.com/office/drawing/2014/main" id="{7DB9DF12-403F-41AD-9FFA-297BE7EA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Sulcus OS is not another chatbot wrapper.</a:t>
            </a:r>
          </a:p>
        </p:txBody>
      </p:sp>
      <p:sp>
        <p:nvSpPr>
          <p:cNvPr id="24" name="dot-0">
            <a:extLst xmlns:a="http://schemas.openxmlformats.org/drawingml/2006/main">
              <a:ext uri="{FF2B5EF4-FFF2-40B4-BE49-F238E27FC236}">
                <a16:creationId xmlns:a16="http://schemas.microsoft.com/office/drawing/2014/main" id="{E7C34C0B-DB07-4F71-82E8-23C564D3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24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25" name="bullet-0">
            <a:extLst xmlns:a="http://schemas.openxmlformats.org/drawingml/2006/main">
              <a:ext uri="{FF2B5EF4-FFF2-40B4-BE49-F238E27FC236}">
                <a16:creationId xmlns:a16="http://schemas.microsoft.com/office/drawing/2014/main" id="{76A11961-09FE-4A6C-A7E9-A68266B9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Runtime layer for parallel agent systems</a:t>
            </a:r>
          </a:p>
        </p:txBody>
      </p:sp>
      <p:sp>
        <p:nvSpPr>
          <p:cNvPr id="26" name="dot-1">
            <a:extLst xmlns:a="http://schemas.openxmlformats.org/drawingml/2006/main">
              <a:ext uri="{FF2B5EF4-FFF2-40B4-BE49-F238E27FC236}">
                <a16:creationId xmlns:a16="http://schemas.microsoft.com/office/drawing/2014/main" id="{7D133973-C258-4AFC-81FC-423F1443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27" name="bullet-1">
            <a:extLst xmlns:a="http://schemas.openxmlformats.org/drawingml/2006/main">
              <a:ext uri="{FF2B5EF4-FFF2-40B4-BE49-F238E27FC236}">
                <a16:creationId xmlns:a16="http://schemas.microsoft.com/office/drawing/2014/main" id="{21B39742-E05B-4426-B6E6-5C662E8D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Designed for observable execution</a:t>
            </a:r>
          </a:p>
        </p:txBody>
      </p:sp>
      <p:sp>
        <p:nvSpPr>
          <p:cNvPr id="28" name="dot-2">
            <a:extLst xmlns:a="http://schemas.openxmlformats.org/drawingml/2006/main">
              <a:ext uri="{FF2B5EF4-FFF2-40B4-BE49-F238E27FC236}">
                <a16:creationId xmlns:a16="http://schemas.microsoft.com/office/drawing/2014/main" id="{B6372316-65F0-4B93-AB5C-57958CE9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4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29" name="bullet-2">
            <a:extLst xmlns:a="http://schemas.openxmlformats.org/drawingml/2006/main">
              <a:ext uri="{FF2B5EF4-FFF2-40B4-BE49-F238E27FC236}">
                <a16:creationId xmlns:a16="http://schemas.microsoft.com/office/drawing/2014/main" id="{D4D6BBD3-F163-422F-9562-384B35E0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Focused on tool-using agents</a:t>
            </a:r>
          </a:p>
        </p:txBody>
      </p:sp>
      <p:sp>
        <p:nvSpPr>
          <p:cNvPr id="30" name="dot-3">
            <a:extLst xmlns:a="http://schemas.openxmlformats.org/drawingml/2006/main">
              <a:ext uri="{FF2B5EF4-FFF2-40B4-BE49-F238E27FC236}">
                <a16:creationId xmlns:a16="http://schemas.microsoft.com/office/drawing/2014/main" id="{642E67D4-58C1-49ED-878E-0E932877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31" name="bullet-3">
            <a:extLst xmlns:a="http://schemas.openxmlformats.org/drawingml/2006/main">
              <a:ext uri="{FF2B5EF4-FFF2-40B4-BE49-F238E27FC236}">
                <a16:creationId xmlns:a16="http://schemas.microsoft.com/office/drawing/2014/main" id="{8F16C9AE-FE1B-42AB-802C-20742548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Built around process, memory, timeline, and replay primitives</a:t>
            </a:r>
          </a:p>
        </p:txBody>
      </p:sp>
      <p:sp>
        <p:nvSpPr>
          <p:cNvPr id="32" name="x-axis">
            <a:extLst xmlns:a="http://schemas.openxmlformats.org/drawingml/2006/main">
              <a:ext uri="{FF2B5EF4-FFF2-40B4-BE49-F238E27FC236}">
                <a16:creationId xmlns:a16="http://schemas.microsoft.com/office/drawing/2014/main" id="{A08D3536-DA5C-4113-B95B-B8767461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1495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7E92"/>
            </a:solidFill>
            <a:prstDash val="solid"/>
          </a:ln>
        </p:spPr>
      </p:sp>
      <p:sp>
        <p:nvSpPr>
          <p:cNvPr id="33" name="y-axis">
            <a:extLst xmlns:a="http://schemas.openxmlformats.org/drawingml/2006/main">
              <a:ext uri="{FF2B5EF4-FFF2-40B4-BE49-F238E27FC236}">
                <a16:creationId xmlns:a16="http://schemas.microsoft.com/office/drawing/2014/main" id="{EE4E6292-9CD0-4E9C-B794-EF807DDB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0" cy="2838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7E92"/>
            </a:solidFill>
            <a:prstDash val="solid"/>
          </a:ln>
        </p:spPr>
      </p:sp>
      <p:sp>
        <p:nvSpPr>
          <p:cNvPr id="34" name="x-left">
            <a:extLst xmlns:a="http://schemas.openxmlformats.org/drawingml/2006/main">
              <a:ext uri="{FF2B5EF4-FFF2-40B4-BE49-F238E27FC236}">
                <a16:creationId xmlns:a16="http://schemas.microsoft.com/office/drawing/2014/main" id="{86231144-6E33-4E77-A825-0DE2CF50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24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E9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7E92"/>
                </a:solidFill>
                <a:latin typeface="Aptos"/>
                <a:ea typeface="Aptos"/>
                <a:cs typeface="Aptos"/>
              </a:rPr>
              <a:t>Simple chat apps</a:t>
            </a:r>
          </a:p>
        </p:txBody>
      </p:sp>
      <p:sp>
        <p:nvSpPr>
          <p:cNvPr id="35" name="x-right">
            <a:extLst xmlns:a="http://schemas.openxmlformats.org/drawingml/2006/main">
              <a:ext uri="{FF2B5EF4-FFF2-40B4-BE49-F238E27FC236}">
                <a16:creationId xmlns:a16="http://schemas.microsoft.com/office/drawing/2014/main" id="{FA95EF54-E518-42AA-80C8-B7CC9A54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524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F7E9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7E92"/>
                </a:solidFill>
                <a:latin typeface="Aptos"/>
                <a:ea typeface="Aptos"/>
                <a:cs typeface="Aptos"/>
              </a:rPr>
              <a:t>Complex agent systems</a:t>
            </a:r>
          </a:p>
        </p:txBody>
      </p:sp>
      <p:sp>
        <p:nvSpPr>
          <p:cNvPr id="36" name="y-top">
            <a:extLst xmlns:a="http://schemas.openxmlformats.org/drawingml/2006/main">
              <a:ext uri="{FF2B5EF4-FFF2-40B4-BE49-F238E27FC236}">
                <a16:creationId xmlns:a16="http://schemas.microsoft.com/office/drawing/2014/main" id="{6DD295F7-9E36-47F9-B235-59538A0A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33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E9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7E92"/>
                </a:solidFill>
                <a:latin typeface="Aptos"/>
                <a:ea typeface="Aptos"/>
                <a:cs typeface="Aptos"/>
              </a:rPr>
              <a:t>High observability</a:t>
            </a:r>
          </a:p>
        </p:txBody>
      </p:sp>
      <p:sp>
        <p:nvSpPr>
          <p:cNvPr id="37" name="position-dot">
            <a:extLst xmlns:a="http://schemas.openxmlformats.org/drawingml/2006/main">
              <a:ext uri="{FF2B5EF4-FFF2-40B4-BE49-F238E27FC236}">
                <a16:creationId xmlns:a16="http://schemas.microsoft.com/office/drawing/2014/main" id="{C26BE8EC-503C-4DD9-BB91-50765BC7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14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38" name="position-label">
            <a:extLst xmlns:a="http://schemas.openxmlformats.org/drawingml/2006/main">
              <a:ext uri="{FF2B5EF4-FFF2-40B4-BE49-F238E27FC236}">
                <a16:creationId xmlns:a16="http://schemas.microsoft.com/office/drawing/2014/main" id="{8AF6BC09-9E92-4005-98F9-DD118FAD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81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Sulcus OS</a:t>
            </a:r>
          </a:p>
        </p:txBody>
      </p:sp>
    </p:spTree>
    <p:extLst>
      <p:ext uri="{BB962C8B-B14F-4D97-AF65-F5344CB8AC3E}">
        <p14:creationId xmlns:p14="http://schemas.microsoft.com/office/powerpoint/2010/main" val="9233243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55C8357-0B6D-4AEB-8326-05BBB33A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2" name="bg-base">
            <a:extLst xmlns:a="http://schemas.openxmlformats.org/drawingml/2006/main">
              <a:ext uri="{FF2B5EF4-FFF2-40B4-BE49-F238E27FC236}">
                <a16:creationId xmlns:a16="http://schemas.microsoft.com/office/drawing/2014/main" id="{7D320CC4-7277-4465-B476-F0103722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BD0D5E4A-0873-48C3-9C76-D3CD0F24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4" name="grid-v-1">
            <a:extLst xmlns:a="http://schemas.openxmlformats.org/drawingml/2006/main">
              <a:ext uri="{FF2B5EF4-FFF2-40B4-BE49-F238E27FC236}">
                <a16:creationId xmlns:a16="http://schemas.microsoft.com/office/drawing/2014/main" id="{98A809D8-171E-42CB-9296-80B205D1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5" name="grid-v-2">
            <a:extLst xmlns:a="http://schemas.openxmlformats.org/drawingml/2006/main">
              <a:ext uri="{FF2B5EF4-FFF2-40B4-BE49-F238E27FC236}">
                <a16:creationId xmlns:a16="http://schemas.microsoft.com/office/drawing/2014/main" id="{287C1BB3-353A-4E60-98B8-8DFD3E15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6" name="grid-v-3">
            <a:extLst xmlns:a="http://schemas.openxmlformats.org/drawingml/2006/main">
              <a:ext uri="{FF2B5EF4-FFF2-40B4-BE49-F238E27FC236}">
                <a16:creationId xmlns:a16="http://schemas.microsoft.com/office/drawing/2014/main" id="{FF33ECC3-C779-4A17-8EA3-641B8646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7" name="grid-v-4">
            <a:extLst xmlns:a="http://schemas.openxmlformats.org/drawingml/2006/main">
              <a:ext uri="{FF2B5EF4-FFF2-40B4-BE49-F238E27FC236}">
                <a16:creationId xmlns:a16="http://schemas.microsoft.com/office/drawing/2014/main" id="{68151428-5D62-444E-B2B5-D5EC9599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8" name="grid-v-5">
            <a:extLst xmlns:a="http://schemas.openxmlformats.org/drawingml/2006/main">
              <a:ext uri="{FF2B5EF4-FFF2-40B4-BE49-F238E27FC236}">
                <a16:creationId xmlns:a16="http://schemas.microsoft.com/office/drawing/2014/main" id="{EC291F20-09F3-4365-8632-75973FBF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9" name="grid-v-6">
            <a:extLst xmlns:a="http://schemas.openxmlformats.org/drawingml/2006/main">
              <a:ext uri="{FF2B5EF4-FFF2-40B4-BE49-F238E27FC236}">
                <a16:creationId xmlns:a16="http://schemas.microsoft.com/office/drawing/2014/main" id="{5E148A4B-88B8-422A-A198-1CFB7695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0" name="grid-v-7">
            <a:extLst xmlns:a="http://schemas.openxmlformats.org/drawingml/2006/main">
              <a:ext uri="{FF2B5EF4-FFF2-40B4-BE49-F238E27FC236}">
                <a16:creationId xmlns:a16="http://schemas.microsoft.com/office/drawing/2014/main" id="{9D92975B-0BD6-4B47-BDDC-48C1A88B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1" name="grid-v-8">
            <a:extLst xmlns:a="http://schemas.openxmlformats.org/drawingml/2006/main">
              <a:ext uri="{FF2B5EF4-FFF2-40B4-BE49-F238E27FC236}">
                <a16:creationId xmlns:a16="http://schemas.microsoft.com/office/drawing/2014/main" id="{BD60461C-328B-4946-86BB-49656731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2" name="grid-v-9">
            <a:extLst xmlns:a="http://schemas.openxmlformats.org/drawingml/2006/main">
              <a:ext uri="{FF2B5EF4-FFF2-40B4-BE49-F238E27FC236}">
                <a16:creationId xmlns:a16="http://schemas.microsoft.com/office/drawing/2014/main" id="{11B8E46E-2648-4638-8F7E-407695AA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3" name="grid-h-0">
            <a:extLst xmlns:a="http://schemas.openxmlformats.org/drawingml/2006/main">
              <a:ext uri="{FF2B5EF4-FFF2-40B4-BE49-F238E27FC236}">
                <a16:creationId xmlns:a16="http://schemas.microsoft.com/office/drawing/2014/main" id="{2D51FAF3-6645-407C-BB73-DA5443D4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4" name="grid-h-1">
            <a:extLst xmlns:a="http://schemas.openxmlformats.org/drawingml/2006/main">
              <a:ext uri="{FF2B5EF4-FFF2-40B4-BE49-F238E27FC236}">
                <a16:creationId xmlns:a16="http://schemas.microsoft.com/office/drawing/2014/main" id="{CF878F8F-0684-49A7-AC2D-D99413FD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5" name="grid-h-2">
            <a:extLst xmlns:a="http://schemas.openxmlformats.org/drawingml/2006/main">
              <a:ext uri="{FF2B5EF4-FFF2-40B4-BE49-F238E27FC236}">
                <a16:creationId xmlns:a16="http://schemas.microsoft.com/office/drawing/2014/main" id="{89D3481E-C0E9-425A-97C0-B897B3E0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D1186012-8CA9-4752-8ABE-9409773A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7" name="grid-h-4">
            <a:extLst xmlns:a="http://schemas.openxmlformats.org/drawingml/2006/main">
              <a:ext uri="{FF2B5EF4-FFF2-40B4-BE49-F238E27FC236}">
                <a16:creationId xmlns:a16="http://schemas.microsoft.com/office/drawing/2014/main" id="{51ED007A-2821-406B-AFF8-C9A71CF5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8" name="accent-glow">
            <a:extLst xmlns:a="http://schemas.openxmlformats.org/drawingml/2006/main">
              <a:ext uri="{FF2B5EF4-FFF2-40B4-BE49-F238E27FC236}">
                <a16:creationId xmlns:a16="http://schemas.microsoft.com/office/drawing/2014/main" id="{FB5D6E0C-3ACA-4751-BB86-55727433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42875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A70"/>
          </a:solidFill>
          <a:ln xmlns:a="http://schemas.openxmlformats.org/drawingml/2006/main" w="0">
            <a:solidFill>
              <a:srgbClr val="0A5A70"/>
            </a:solidFill>
            <a:prstDash val="solid"/>
          </a:ln>
        </p:spPr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98C6C42-C548-4797-AA50-2BFB1F37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E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E9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20" name="brand">
            <a:extLst xmlns:a="http://schemas.openxmlformats.org/drawingml/2006/main">
              <a:ext uri="{FF2B5EF4-FFF2-40B4-BE49-F238E27FC236}">
                <a16:creationId xmlns:a16="http://schemas.microsoft.com/office/drawing/2014/main" id="{85DE9E18-2048-4F66-861E-384AE359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6D7FF"/>
                </a:solidFill>
                <a:latin typeface="Aptos"/>
                <a:ea typeface="Aptos"/>
                <a:cs typeface="Aptos"/>
              </a:rPr>
              <a:t>SULCUS OS</a:t>
            </a:r>
          </a:p>
        </p:txBody>
      </p:sp>
      <p:sp>
        <p:nvSpPr>
          <p:cNvPr id="21" name="brand-rule">
            <a:extLst xmlns:a="http://schemas.openxmlformats.org/drawingml/2006/main">
              <a:ext uri="{FF2B5EF4-FFF2-40B4-BE49-F238E27FC236}">
                <a16:creationId xmlns:a16="http://schemas.microsoft.com/office/drawing/2014/main" id="{8DEBF966-6A83-4E23-AE30-1B4CDADC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D7FF"/>
            </a:solidFill>
            <a:prstDash val="solid"/>
          </a:ln>
        </p:spPr>
      </p:sp>
      <p:sp>
        <p:nvSpPr>
          <p:cNvPr id="22" name="title">
            <a:extLst xmlns:a="http://schemas.openxmlformats.org/drawingml/2006/main">
              <a:ext uri="{FF2B5EF4-FFF2-40B4-BE49-F238E27FC236}">
                <a16:creationId xmlns:a16="http://schemas.microsoft.com/office/drawing/2014/main" id="{E2AC7981-5365-4B22-A32A-5661EDE0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Target Users</a:t>
            </a:r>
          </a:p>
        </p:txBody>
      </p:sp>
      <p:sp>
        <p:nvSpPr>
          <p:cNvPr id="23" name="message">
            <a:extLst xmlns:a="http://schemas.openxmlformats.org/drawingml/2006/main">
              <a:ext uri="{FF2B5EF4-FFF2-40B4-BE49-F238E27FC236}">
                <a16:creationId xmlns:a16="http://schemas.microsoft.com/office/drawing/2014/main" id="{F5810CD8-B6DD-4354-996D-C8022396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Start with builders who already feel the pain of agent complexity.</a:t>
            </a:r>
          </a:p>
        </p:txBody>
      </p:sp>
      <p:sp>
        <p:nvSpPr>
          <p:cNvPr id="24" name="card">
            <a:extLst xmlns:a="http://schemas.openxmlformats.org/drawingml/2006/main">
              <a:ext uri="{FF2B5EF4-FFF2-40B4-BE49-F238E27FC236}">
                <a16:creationId xmlns:a16="http://schemas.microsoft.com/office/drawing/2014/main" id="{29968AF7-5FF3-4B69-A890-A485960C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43200"/>
            <a:ext cx="28575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36D7FF"/>
            </a:solidFill>
            <a:prstDash val="solid"/>
          </a:ln>
        </p:spPr>
      </p:sp>
      <p:sp>
        <p:nvSpPr>
          <p:cNvPr id="25" name="card-label">
            <a:extLst xmlns:a="http://schemas.openxmlformats.org/drawingml/2006/main">
              <a:ext uri="{FF2B5EF4-FFF2-40B4-BE49-F238E27FC236}">
                <a16:creationId xmlns:a16="http://schemas.microsoft.com/office/drawing/2014/main" id="{707B5964-572F-40AF-BD39-4B3C5272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003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AI builders</a:t>
            </a:r>
          </a:p>
        </p:txBody>
      </p:sp>
      <p:sp>
        <p:nvSpPr>
          <p:cNvPr id="26" name="card">
            <a:extLst xmlns:a="http://schemas.openxmlformats.org/drawingml/2006/main">
              <a:ext uri="{FF2B5EF4-FFF2-40B4-BE49-F238E27FC236}">
                <a16:creationId xmlns:a16="http://schemas.microsoft.com/office/drawing/2014/main" id="{7D91B5CD-5FAE-4EDE-B8FB-0527E407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38500"/>
            <a:ext cx="31051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36D7FF"/>
            </a:solidFill>
            <a:prstDash val="solid"/>
          </a:ln>
        </p:spPr>
      </p:sp>
      <p:sp>
        <p:nvSpPr>
          <p:cNvPr id="27" name="card-label">
            <a:extLst xmlns:a="http://schemas.openxmlformats.org/drawingml/2006/main">
              <a:ext uri="{FF2B5EF4-FFF2-40B4-BE49-F238E27FC236}">
                <a16:creationId xmlns:a16="http://schemas.microsoft.com/office/drawing/2014/main" id="{E488BDA6-0DB3-464C-97F3-47EAF7C8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Agentic app developers</a:t>
            </a:r>
          </a:p>
        </p:txBody>
      </p:sp>
      <p:sp>
        <p:nvSpPr>
          <p:cNvPr id="28" name="card">
            <a:extLst xmlns:a="http://schemas.openxmlformats.org/drawingml/2006/main">
              <a:ext uri="{FF2B5EF4-FFF2-40B4-BE49-F238E27FC236}">
                <a16:creationId xmlns:a16="http://schemas.microsoft.com/office/drawing/2014/main" id="{ED00545B-D35E-41A3-B087-1265AABC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33800"/>
            <a:ext cx="33528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36D7FF"/>
            </a:solidFill>
            <a:prstDash val="solid"/>
          </a:ln>
        </p:spPr>
      </p:sp>
      <p:sp>
        <p:nvSpPr>
          <p:cNvPr id="29" name="card-label">
            <a:extLst xmlns:a="http://schemas.openxmlformats.org/drawingml/2006/main">
              <a:ext uri="{FF2B5EF4-FFF2-40B4-BE49-F238E27FC236}">
                <a16:creationId xmlns:a16="http://schemas.microsoft.com/office/drawing/2014/main" id="{1D4F87BE-D781-40D7-80E3-5A29C2F9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909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Startups building AI workflows</a:t>
            </a:r>
          </a:p>
        </p:txBody>
      </p:sp>
      <p:sp>
        <p:nvSpPr>
          <p:cNvPr id="30" name="card">
            <a:extLst xmlns:a="http://schemas.openxmlformats.org/drawingml/2006/main">
              <a:ext uri="{FF2B5EF4-FFF2-40B4-BE49-F238E27FC236}">
                <a16:creationId xmlns:a16="http://schemas.microsoft.com/office/drawing/2014/main" id="{921A5FC4-CB65-4563-A95F-3553FB25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29100"/>
            <a:ext cx="36004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1" name="card-label">
            <a:extLst xmlns:a="http://schemas.openxmlformats.org/drawingml/2006/main">
              <a:ext uri="{FF2B5EF4-FFF2-40B4-BE49-F238E27FC236}">
                <a16:creationId xmlns:a16="http://schemas.microsoft.com/office/drawing/2014/main" id="{2C7C54F2-1716-4717-BE2F-06C76CB5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862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AI automation teams</a:t>
            </a:r>
          </a:p>
        </p:txBody>
      </p:sp>
      <p:sp>
        <p:nvSpPr>
          <p:cNvPr id="32" name="card">
            <a:extLst xmlns:a="http://schemas.openxmlformats.org/drawingml/2006/main">
              <a:ext uri="{FF2B5EF4-FFF2-40B4-BE49-F238E27FC236}">
                <a16:creationId xmlns:a16="http://schemas.microsoft.com/office/drawing/2014/main" id="{694365C8-A1C3-4765-A382-A2688FF4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24400"/>
            <a:ext cx="38481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3" name="card-label">
            <a:extLst xmlns:a="http://schemas.openxmlformats.org/drawingml/2006/main">
              <a:ext uri="{FF2B5EF4-FFF2-40B4-BE49-F238E27FC236}">
                <a16:creationId xmlns:a16="http://schemas.microsoft.com/office/drawing/2014/main" id="{1C053831-0F38-4DDF-B87B-3E2E12A0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81550"/>
            <a:ext cx="350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Research labs</a:t>
            </a:r>
          </a:p>
        </p:txBody>
      </p:sp>
      <p:sp>
        <p:nvSpPr>
          <p:cNvPr id="34" name="card">
            <a:extLst xmlns:a="http://schemas.openxmlformats.org/drawingml/2006/main">
              <a:ext uri="{FF2B5EF4-FFF2-40B4-BE49-F238E27FC236}">
                <a16:creationId xmlns:a16="http://schemas.microsoft.com/office/drawing/2014/main" id="{80E15770-5FB4-47F7-A3A2-1A4319D8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19700"/>
            <a:ext cx="409575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5" name="card-label">
            <a:extLst xmlns:a="http://schemas.openxmlformats.org/drawingml/2006/main">
              <a:ext uri="{FF2B5EF4-FFF2-40B4-BE49-F238E27FC236}">
                <a16:creationId xmlns:a16="http://schemas.microsoft.com/office/drawing/2014/main" id="{A103F99A-3F14-4ACF-B3CB-530A9D24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7685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Future enterprise AI infrastructure teams</a:t>
            </a:r>
          </a:p>
        </p:txBody>
      </p:sp>
      <p:sp>
        <p:nvSpPr>
          <p:cNvPr id="36" name="dot-0">
            <a:extLst xmlns:a="http://schemas.openxmlformats.org/drawingml/2006/main">
              <a:ext uri="{FF2B5EF4-FFF2-40B4-BE49-F238E27FC236}">
                <a16:creationId xmlns:a16="http://schemas.microsoft.com/office/drawing/2014/main" id="{1EFB1629-F8BF-48D1-BA09-2B6EC40C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37" name="bullet-0">
            <a:extLst xmlns:a="http://schemas.openxmlformats.org/drawingml/2006/main">
              <a:ext uri="{FF2B5EF4-FFF2-40B4-BE49-F238E27FC236}">
                <a16:creationId xmlns:a16="http://schemas.microsoft.com/office/drawing/2014/main" id="{269C8E04-CE16-41A7-869E-9FA0AE03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AI builders</a:t>
            </a:r>
          </a:p>
        </p:txBody>
      </p:sp>
      <p:sp>
        <p:nvSpPr>
          <p:cNvPr id="38" name="dot-1">
            <a:extLst xmlns:a="http://schemas.openxmlformats.org/drawingml/2006/main">
              <a:ext uri="{FF2B5EF4-FFF2-40B4-BE49-F238E27FC236}">
                <a16:creationId xmlns:a16="http://schemas.microsoft.com/office/drawing/2014/main" id="{80B97567-2459-4669-B5C1-E34C6F7C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39" name="bullet-1">
            <a:extLst xmlns:a="http://schemas.openxmlformats.org/drawingml/2006/main">
              <a:ext uri="{FF2B5EF4-FFF2-40B4-BE49-F238E27FC236}">
                <a16:creationId xmlns:a16="http://schemas.microsoft.com/office/drawing/2014/main" id="{FBE25605-D2BC-4F47-91A2-0B502E4A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Agentic app developers</a:t>
            </a:r>
          </a:p>
        </p:txBody>
      </p:sp>
      <p:sp>
        <p:nvSpPr>
          <p:cNvPr id="40" name="dot-2">
            <a:extLst xmlns:a="http://schemas.openxmlformats.org/drawingml/2006/main">
              <a:ext uri="{FF2B5EF4-FFF2-40B4-BE49-F238E27FC236}">
                <a16:creationId xmlns:a16="http://schemas.microsoft.com/office/drawing/2014/main" id="{4A88B7A5-C467-44DE-B0BA-846F5F12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71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41" name="bullet-2">
            <a:extLst xmlns:a="http://schemas.openxmlformats.org/drawingml/2006/main">
              <a:ext uri="{FF2B5EF4-FFF2-40B4-BE49-F238E27FC236}">
                <a16:creationId xmlns:a16="http://schemas.microsoft.com/office/drawing/2014/main" id="{E8BE15A8-07D9-4961-885A-B1727939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Startups building AI workflows</a:t>
            </a:r>
          </a:p>
        </p:txBody>
      </p:sp>
      <p:sp>
        <p:nvSpPr>
          <p:cNvPr id="42" name="dot-3">
            <a:extLst xmlns:a="http://schemas.openxmlformats.org/drawingml/2006/main">
              <a:ext uri="{FF2B5EF4-FFF2-40B4-BE49-F238E27FC236}">
                <a16:creationId xmlns:a16="http://schemas.microsoft.com/office/drawing/2014/main" id="{9A65C3C5-5152-4AD7-8C0B-89F44C27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67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43" name="bullet-3">
            <a:extLst xmlns:a="http://schemas.openxmlformats.org/drawingml/2006/main">
              <a:ext uri="{FF2B5EF4-FFF2-40B4-BE49-F238E27FC236}">
                <a16:creationId xmlns:a16="http://schemas.microsoft.com/office/drawing/2014/main" id="{13F56BDE-8F21-4397-93DB-4F841478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AI automation teams</a:t>
            </a:r>
          </a:p>
        </p:txBody>
      </p:sp>
    </p:spTree>
    <p:extLst>
      <p:ext uri="{BB962C8B-B14F-4D97-AF65-F5344CB8AC3E}">
        <p14:creationId xmlns:p14="http://schemas.microsoft.com/office/powerpoint/2010/main" val="18008521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05AEEC4-856E-4E48-A4C1-58419E19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2" name="bg-base">
            <a:extLst xmlns:a="http://schemas.openxmlformats.org/drawingml/2006/main">
              <a:ext uri="{FF2B5EF4-FFF2-40B4-BE49-F238E27FC236}">
                <a16:creationId xmlns:a16="http://schemas.microsoft.com/office/drawing/2014/main" id="{04B76335-E018-4BEB-9B2B-E7E94D97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46853164-2F9B-46F1-A21E-F05BA1DC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4" name="grid-v-1">
            <a:extLst xmlns:a="http://schemas.openxmlformats.org/drawingml/2006/main">
              <a:ext uri="{FF2B5EF4-FFF2-40B4-BE49-F238E27FC236}">
                <a16:creationId xmlns:a16="http://schemas.microsoft.com/office/drawing/2014/main" id="{EAEBA8BF-7D01-44B0-8607-2A0BF59E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5" name="grid-v-2">
            <a:extLst xmlns:a="http://schemas.openxmlformats.org/drawingml/2006/main">
              <a:ext uri="{FF2B5EF4-FFF2-40B4-BE49-F238E27FC236}">
                <a16:creationId xmlns:a16="http://schemas.microsoft.com/office/drawing/2014/main" id="{8D3EFB2A-402B-4971-AB32-142937D6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6" name="grid-v-3">
            <a:extLst xmlns:a="http://schemas.openxmlformats.org/drawingml/2006/main">
              <a:ext uri="{FF2B5EF4-FFF2-40B4-BE49-F238E27FC236}">
                <a16:creationId xmlns:a16="http://schemas.microsoft.com/office/drawing/2014/main" id="{57F24270-4F43-49E6-8D83-9B229432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7" name="grid-v-4">
            <a:extLst xmlns:a="http://schemas.openxmlformats.org/drawingml/2006/main">
              <a:ext uri="{FF2B5EF4-FFF2-40B4-BE49-F238E27FC236}">
                <a16:creationId xmlns:a16="http://schemas.microsoft.com/office/drawing/2014/main" id="{80B70C99-15C3-4CC1-9EEA-3F1183A6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8" name="grid-v-5">
            <a:extLst xmlns:a="http://schemas.openxmlformats.org/drawingml/2006/main">
              <a:ext uri="{FF2B5EF4-FFF2-40B4-BE49-F238E27FC236}">
                <a16:creationId xmlns:a16="http://schemas.microsoft.com/office/drawing/2014/main" id="{13DA805F-D596-4308-8122-48BD4AB0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9" name="grid-v-6">
            <a:extLst xmlns:a="http://schemas.openxmlformats.org/drawingml/2006/main">
              <a:ext uri="{FF2B5EF4-FFF2-40B4-BE49-F238E27FC236}">
                <a16:creationId xmlns:a16="http://schemas.microsoft.com/office/drawing/2014/main" id="{D337F346-48E8-4107-968A-67EB483B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0" name="grid-v-7">
            <a:extLst xmlns:a="http://schemas.openxmlformats.org/drawingml/2006/main">
              <a:ext uri="{FF2B5EF4-FFF2-40B4-BE49-F238E27FC236}">
                <a16:creationId xmlns:a16="http://schemas.microsoft.com/office/drawing/2014/main" id="{A2BA072C-E60D-47A3-96F0-31F89C54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1" name="grid-v-8">
            <a:extLst xmlns:a="http://schemas.openxmlformats.org/drawingml/2006/main">
              <a:ext uri="{FF2B5EF4-FFF2-40B4-BE49-F238E27FC236}">
                <a16:creationId xmlns:a16="http://schemas.microsoft.com/office/drawing/2014/main" id="{C98767FA-D68B-4176-B9D8-D36A5DBF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2" name="grid-v-9">
            <a:extLst xmlns:a="http://schemas.openxmlformats.org/drawingml/2006/main">
              <a:ext uri="{FF2B5EF4-FFF2-40B4-BE49-F238E27FC236}">
                <a16:creationId xmlns:a16="http://schemas.microsoft.com/office/drawing/2014/main" id="{B9CD11A3-D2FA-42D5-9BF5-598B964B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3" name="grid-h-0">
            <a:extLst xmlns:a="http://schemas.openxmlformats.org/drawingml/2006/main">
              <a:ext uri="{FF2B5EF4-FFF2-40B4-BE49-F238E27FC236}">
                <a16:creationId xmlns:a16="http://schemas.microsoft.com/office/drawing/2014/main" id="{3472C774-F910-4DCC-9527-9A2CE9C2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4" name="grid-h-1">
            <a:extLst xmlns:a="http://schemas.openxmlformats.org/drawingml/2006/main">
              <a:ext uri="{FF2B5EF4-FFF2-40B4-BE49-F238E27FC236}">
                <a16:creationId xmlns:a16="http://schemas.microsoft.com/office/drawing/2014/main" id="{71ADAF12-09B7-40DD-B99D-FD05AD8A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5" name="grid-h-2">
            <a:extLst xmlns:a="http://schemas.openxmlformats.org/drawingml/2006/main">
              <a:ext uri="{FF2B5EF4-FFF2-40B4-BE49-F238E27FC236}">
                <a16:creationId xmlns:a16="http://schemas.microsoft.com/office/drawing/2014/main" id="{AA59F489-464F-4907-B29D-4A844D53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A2639680-78F6-4734-BDAA-6FDDD733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7" name="grid-h-4">
            <a:extLst xmlns:a="http://schemas.openxmlformats.org/drawingml/2006/main">
              <a:ext uri="{FF2B5EF4-FFF2-40B4-BE49-F238E27FC236}">
                <a16:creationId xmlns:a16="http://schemas.microsoft.com/office/drawing/2014/main" id="{9C9F944A-1D6A-4F0C-AA9F-4099D407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8" name="accent-glow">
            <a:extLst xmlns:a="http://schemas.openxmlformats.org/drawingml/2006/main">
              <a:ext uri="{FF2B5EF4-FFF2-40B4-BE49-F238E27FC236}">
                <a16:creationId xmlns:a16="http://schemas.microsoft.com/office/drawing/2014/main" id="{1433D821-29BE-4C1E-9A8E-D71EFF10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42875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A70"/>
          </a:solidFill>
          <a:ln xmlns:a="http://schemas.openxmlformats.org/drawingml/2006/main" w="0">
            <a:solidFill>
              <a:srgbClr val="0A5A70"/>
            </a:solidFill>
            <a:prstDash val="solid"/>
          </a:ln>
        </p:spPr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38C6FAB-B3A7-42BB-B9F5-DB0641C1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E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E9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0" name="brand">
            <a:extLst xmlns:a="http://schemas.openxmlformats.org/drawingml/2006/main">
              <a:ext uri="{FF2B5EF4-FFF2-40B4-BE49-F238E27FC236}">
                <a16:creationId xmlns:a16="http://schemas.microsoft.com/office/drawing/2014/main" id="{ED69BD06-2F46-4DF4-8B97-5BB6ADA6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6D7FF"/>
                </a:solidFill>
                <a:latin typeface="Aptos"/>
                <a:ea typeface="Aptos"/>
                <a:cs typeface="Aptos"/>
              </a:rPr>
              <a:t>SULCUS OS</a:t>
            </a:r>
          </a:p>
        </p:txBody>
      </p:sp>
      <p:sp>
        <p:nvSpPr>
          <p:cNvPr id="21" name="brand-rule">
            <a:extLst xmlns:a="http://schemas.openxmlformats.org/drawingml/2006/main">
              <a:ext uri="{FF2B5EF4-FFF2-40B4-BE49-F238E27FC236}">
                <a16:creationId xmlns:a16="http://schemas.microsoft.com/office/drawing/2014/main" id="{37EF0BF0-1299-4125-B97D-CEBECC6F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D7FF"/>
            </a:solidFill>
            <a:prstDash val="solid"/>
          </a:ln>
        </p:spPr>
      </p:sp>
      <p:sp>
        <p:nvSpPr>
          <p:cNvPr id="22" name="title">
            <a:extLst xmlns:a="http://schemas.openxmlformats.org/drawingml/2006/main">
              <a:ext uri="{FF2B5EF4-FFF2-40B4-BE49-F238E27FC236}">
                <a16:creationId xmlns:a16="http://schemas.microsoft.com/office/drawing/2014/main" id="{E5A80964-9BBE-4A85-B984-99FB6BAE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Market Opportunity</a:t>
            </a:r>
          </a:p>
        </p:txBody>
      </p:sp>
      <p:sp>
        <p:nvSpPr>
          <p:cNvPr id="23" name="message">
            <a:extLst xmlns:a="http://schemas.openxmlformats.org/drawingml/2006/main">
              <a:ext uri="{FF2B5EF4-FFF2-40B4-BE49-F238E27FC236}">
                <a16:creationId xmlns:a16="http://schemas.microsoft.com/office/drawing/2014/main" id="{A8130844-242C-4A2F-96CC-BD3EF11F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Agentic AI will need an infrastructure layer similar to cloud, DevOps, and observability.</a:t>
            </a:r>
          </a:p>
        </p:txBody>
      </p:sp>
      <p:sp>
        <p:nvSpPr>
          <p:cNvPr id="24" name="card">
            <a:extLst xmlns:a="http://schemas.openxmlformats.org/drawingml/2006/main">
              <a:ext uri="{FF2B5EF4-FFF2-40B4-BE49-F238E27FC236}">
                <a16:creationId xmlns:a16="http://schemas.microsoft.com/office/drawing/2014/main" id="{41D0B547-C2EC-4134-968D-DB0BE53B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20002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25" name="card-label">
            <a:extLst xmlns:a="http://schemas.openxmlformats.org/drawingml/2006/main">
              <a:ext uri="{FF2B5EF4-FFF2-40B4-BE49-F238E27FC236}">
                <a16:creationId xmlns:a16="http://schemas.microsoft.com/office/drawing/2014/main" id="{7F1C9F2D-95F8-4DD0-A922-A5522EC0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7187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Cloud</a:t>
            </a:r>
          </a:p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26" name="card">
            <a:extLst xmlns:a="http://schemas.openxmlformats.org/drawingml/2006/main">
              <a:ext uri="{FF2B5EF4-FFF2-40B4-BE49-F238E27FC236}">
                <a16:creationId xmlns:a16="http://schemas.microsoft.com/office/drawing/2014/main" id="{CD098B36-3532-41DC-9D57-5108797E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57550"/>
            <a:ext cx="20002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27" name="card-label">
            <a:extLst xmlns:a="http://schemas.openxmlformats.org/drawingml/2006/main">
              <a:ext uri="{FF2B5EF4-FFF2-40B4-BE49-F238E27FC236}">
                <a16:creationId xmlns:a16="http://schemas.microsoft.com/office/drawing/2014/main" id="{294360CA-E3D6-4FDE-ADDA-A6C7D57E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7187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DevOps</a:t>
            </a:r>
          </a:p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Ship</a:t>
            </a:r>
          </a:p>
        </p:txBody>
      </p:sp>
      <p:cxnSp>
        <p:nvCxnSpPr>
          <p:cNvPr id="70" name=""/>
          <p:cNvCxnSpPr>
            <a:stCxn xmlns:a="http://schemas.openxmlformats.org/drawingml/2006/main" id="2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2895600" y="37147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sp>
        <p:nvSpPr>
          <p:cNvPr id="29" name="card">
            <a:extLst xmlns:a="http://schemas.openxmlformats.org/drawingml/2006/main">
              <a:ext uri="{FF2B5EF4-FFF2-40B4-BE49-F238E27FC236}">
                <a16:creationId xmlns:a16="http://schemas.microsoft.com/office/drawing/2014/main" id="{0C67DFE4-DC8F-43DB-995D-9D49EF37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57550"/>
            <a:ext cx="20002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0" name="card-label">
            <a:extLst xmlns:a="http://schemas.openxmlformats.org/drawingml/2006/main">
              <a:ext uri="{FF2B5EF4-FFF2-40B4-BE49-F238E27FC236}">
                <a16:creationId xmlns:a16="http://schemas.microsoft.com/office/drawing/2014/main" id="{C3C4C7B0-E692-45A7-99BC-05D5B5B9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7187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Observability</a:t>
            </a:r>
          </a:p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Understand</a:t>
            </a:r>
          </a:p>
        </p:txBody>
      </p:sp>
      <p:cxnSp>
        <p:nvCxnSpPr>
          <p:cNvPr id="73" name=""/>
          <p:cNvCxnSpPr>
            <a:stCxn xmlns:a="http://schemas.openxmlformats.org/drawingml/2006/main" id="26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5619750" y="37147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sp>
        <p:nvSpPr>
          <p:cNvPr id="32" name="card">
            <a:extLst xmlns:a="http://schemas.openxmlformats.org/drawingml/2006/main">
              <a:ext uri="{FF2B5EF4-FFF2-40B4-BE49-F238E27FC236}">
                <a16:creationId xmlns:a16="http://schemas.microsoft.com/office/drawing/2014/main" id="{98C48FDA-D71F-4C41-B1A0-7CF3C421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57550"/>
            <a:ext cx="20002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36D7FF"/>
            </a:solidFill>
            <a:prstDash val="solid"/>
          </a:ln>
        </p:spPr>
      </p:sp>
      <p:sp>
        <p:nvSpPr>
          <p:cNvPr id="33" name="card-label">
            <a:extLst xmlns:a="http://schemas.openxmlformats.org/drawingml/2006/main">
              <a:ext uri="{FF2B5EF4-FFF2-40B4-BE49-F238E27FC236}">
                <a16:creationId xmlns:a16="http://schemas.microsoft.com/office/drawing/2014/main" id="{66DE02E4-6AB0-48C8-A699-D7A27364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7187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Agent infra</a:t>
            </a:r>
          </a:p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cxnSp>
        <p:nvCxnSpPr>
          <p:cNvPr id="76" name=""/>
          <p:cNvCxnSpPr>
            <a:stCxn xmlns:a="http://schemas.openxmlformats.org/drawingml/2006/main" id="29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8343900" y="37147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sp>
        <p:nvSpPr>
          <p:cNvPr id="35" name="dot-0">
            <a:extLst xmlns:a="http://schemas.openxmlformats.org/drawingml/2006/main">
              <a:ext uri="{FF2B5EF4-FFF2-40B4-BE49-F238E27FC236}">
                <a16:creationId xmlns:a16="http://schemas.microsoft.com/office/drawing/2014/main" id="{CA03856C-913F-4945-AA5C-454FA076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86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6A5"/>
          </a:solidFill>
          <a:ln xmlns:a="http://schemas.openxmlformats.org/drawingml/2006/main" w="0">
            <a:solidFill>
              <a:srgbClr val="55E6A5"/>
            </a:solidFill>
            <a:prstDash val="solid"/>
          </a:ln>
        </p:spPr>
      </p:sp>
      <p:sp>
        <p:nvSpPr>
          <p:cNvPr id="36" name="bullet-0">
            <a:extLst xmlns:a="http://schemas.openxmlformats.org/drawingml/2006/main">
              <a:ext uri="{FF2B5EF4-FFF2-40B4-BE49-F238E27FC236}">
                <a16:creationId xmlns:a16="http://schemas.microsoft.com/office/drawing/2014/main" id="{87F6230D-3E7C-4EB4-A51D-D7624C08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196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Cloud made software scalable</a:t>
            </a:r>
          </a:p>
        </p:txBody>
      </p:sp>
      <p:sp>
        <p:nvSpPr>
          <p:cNvPr id="37" name="dot-1">
            <a:extLst xmlns:a="http://schemas.openxmlformats.org/drawingml/2006/main">
              <a:ext uri="{FF2B5EF4-FFF2-40B4-BE49-F238E27FC236}">
                <a16:creationId xmlns:a16="http://schemas.microsoft.com/office/drawing/2014/main" id="{40A0077C-7FD0-45FF-B856-1C4E3378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0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6A5"/>
          </a:solidFill>
          <a:ln xmlns:a="http://schemas.openxmlformats.org/drawingml/2006/main" w="0">
            <a:solidFill>
              <a:srgbClr val="55E6A5"/>
            </a:solidFill>
            <a:prstDash val="solid"/>
          </a:ln>
        </p:spPr>
      </p:sp>
      <p:sp>
        <p:nvSpPr>
          <p:cNvPr id="38" name="bullet-1">
            <a:extLst xmlns:a="http://schemas.openxmlformats.org/drawingml/2006/main">
              <a:ext uri="{FF2B5EF4-FFF2-40B4-BE49-F238E27FC236}">
                <a16:creationId xmlns:a16="http://schemas.microsoft.com/office/drawing/2014/main" id="{421CFABE-BA77-49B2-B5E8-1BE73C02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DevOps made deployment repeatable</a:t>
            </a:r>
          </a:p>
        </p:txBody>
      </p:sp>
      <p:sp>
        <p:nvSpPr>
          <p:cNvPr id="39" name="dot-2">
            <a:extLst xmlns:a="http://schemas.openxmlformats.org/drawingml/2006/main">
              <a:ext uri="{FF2B5EF4-FFF2-40B4-BE49-F238E27FC236}">
                <a16:creationId xmlns:a16="http://schemas.microsoft.com/office/drawing/2014/main" id="{9B4FFD4F-47E6-418D-9551-688E34BC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34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6A5"/>
          </a:solidFill>
          <a:ln xmlns:a="http://schemas.openxmlformats.org/drawingml/2006/main" w="0">
            <a:solidFill>
              <a:srgbClr val="55E6A5"/>
            </a:solidFill>
            <a:prstDash val="solid"/>
          </a:ln>
        </p:spPr>
      </p:sp>
      <p:sp>
        <p:nvSpPr>
          <p:cNvPr id="40" name="bullet-2">
            <a:extLst xmlns:a="http://schemas.openxmlformats.org/drawingml/2006/main">
              <a:ext uri="{FF2B5EF4-FFF2-40B4-BE49-F238E27FC236}">
                <a16:creationId xmlns:a16="http://schemas.microsoft.com/office/drawing/2014/main" id="{D35871A5-ED47-4CF6-B9BE-498CCC3C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673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Observability made systems understandable</a:t>
            </a:r>
          </a:p>
        </p:txBody>
      </p:sp>
      <p:sp>
        <p:nvSpPr>
          <p:cNvPr id="41" name="dot-3">
            <a:extLst xmlns:a="http://schemas.openxmlformats.org/drawingml/2006/main">
              <a:ext uri="{FF2B5EF4-FFF2-40B4-BE49-F238E27FC236}">
                <a16:creationId xmlns:a16="http://schemas.microsoft.com/office/drawing/2014/main" id="{A04D425A-ED24-4D64-BA64-0FDA589E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57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6A5"/>
          </a:solidFill>
          <a:ln xmlns:a="http://schemas.openxmlformats.org/drawingml/2006/main" w="0">
            <a:solidFill>
              <a:srgbClr val="55E6A5"/>
            </a:solidFill>
            <a:prstDash val="solid"/>
          </a:ln>
        </p:spPr>
      </p:sp>
      <p:sp>
        <p:nvSpPr>
          <p:cNvPr id="42" name="bullet-3">
            <a:extLst xmlns:a="http://schemas.openxmlformats.org/drawingml/2006/main">
              <a:ext uri="{FF2B5EF4-FFF2-40B4-BE49-F238E27FC236}">
                <a16:creationId xmlns:a16="http://schemas.microsoft.com/office/drawing/2014/main" id="{C4C42A8D-9853-4A78-B47A-8DF3B77D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912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Agent infrastructure will make AI work reliable</a:t>
            </a:r>
          </a:p>
        </p:txBody>
      </p:sp>
    </p:spTree>
    <p:extLst>
      <p:ext uri="{BB962C8B-B14F-4D97-AF65-F5344CB8AC3E}">
        <p14:creationId xmlns:p14="http://schemas.microsoft.com/office/powerpoint/2010/main" val="12239560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0FB5A7C-B524-48D4-929B-887059A3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2" name="bg-base">
            <a:extLst xmlns:a="http://schemas.openxmlformats.org/drawingml/2006/main">
              <a:ext uri="{FF2B5EF4-FFF2-40B4-BE49-F238E27FC236}">
                <a16:creationId xmlns:a16="http://schemas.microsoft.com/office/drawing/2014/main" id="{9AB28AB9-80C8-4B34-8076-BA41E76A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29916EF5-81D4-4E84-ABAB-52C427DE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4" name="grid-v-1">
            <a:extLst xmlns:a="http://schemas.openxmlformats.org/drawingml/2006/main">
              <a:ext uri="{FF2B5EF4-FFF2-40B4-BE49-F238E27FC236}">
                <a16:creationId xmlns:a16="http://schemas.microsoft.com/office/drawing/2014/main" id="{5925AF8C-B147-4143-8D35-94838CB9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5" name="grid-v-2">
            <a:extLst xmlns:a="http://schemas.openxmlformats.org/drawingml/2006/main">
              <a:ext uri="{FF2B5EF4-FFF2-40B4-BE49-F238E27FC236}">
                <a16:creationId xmlns:a16="http://schemas.microsoft.com/office/drawing/2014/main" id="{BD498FFE-AF48-49F2-B2A6-8B66B6F6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6" name="grid-v-3">
            <a:extLst xmlns:a="http://schemas.openxmlformats.org/drawingml/2006/main">
              <a:ext uri="{FF2B5EF4-FFF2-40B4-BE49-F238E27FC236}">
                <a16:creationId xmlns:a16="http://schemas.microsoft.com/office/drawing/2014/main" id="{8237638A-8A7D-4B99-B3DF-DB08F888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7" name="grid-v-4">
            <a:extLst xmlns:a="http://schemas.openxmlformats.org/drawingml/2006/main">
              <a:ext uri="{FF2B5EF4-FFF2-40B4-BE49-F238E27FC236}">
                <a16:creationId xmlns:a16="http://schemas.microsoft.com/office/drawing/2014/main" id="{03B1B221-8343-4F76-94CA-F066FC23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8" name="grid-v-5">
            <a:extLst xmlns:a="http://schemas.openxmlformats.org/drawingml/2006/main">
              <a:ext uri="{FF2B5EF4-FFF2-40B4-BE49-F238E27FC236}">
                <a16:creationId xmlns:a16="http://schemas.microsoft.com/office/drawing/2014/main" id="{76DB0BA2-A8E3-4190-9072-BDD25501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9" name="grid-v-6">
            <a:extLst xmlns:a="http://schemas.openxmlformats.org/drawingml/2006/main">
              <a:ext uri="{FF2B5EF4-FFF2-40B4-BE49-F238E27FC236}">
                <a16:creationId xmlns:a16="http://schemas.microsoft.com/office/drawing/2014/main" id="{4167DE4C-9B68-4619-BA21-489C8BFF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0" name="grid-v-7">
            <a:extLst xmlns:a="http://schemas.openxmlformats.org/drawingml/2006/main">
              <a:ext uri="{FF2B5EF4-FFF2-40B4-BE49-F238E27FC236}">
                <a16:creationId xmlns:a16="http://schemas.microsoft.com/office/drawing/2014/main" id="{49270C90-9EF2-4C71-A636-B6C6F11B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1" name="grid-v-8">
            <a:extLst xmlns:a="http://schemas.openxmlformats.org/drawingml/2006/main">
              <a:ext uri="{FF2B5EF4-FFF2-40B4-BE49-F238E27FC236}">
                <a16:creationId xmlns:a16="http://schemas.microsoft.com/office/drawing/2014/main" id="{2C39A330-71A1-4D19-B478-FA83CD4A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2" name="grid-v-9">
            <a:extLst xmlns:a="http://schemas.openxmlformats.org/drawingml/2006/main">
              <a:ext uri="{FF2B5EF4-FFF2-40B4-BE49-F238E27FC236}">
                <a16:creationId xmlns:a16="http://schemas.microsoft.com/office/drawing/2014/main" id="{63327457-DDA4-48CA-8382-B3ECBBFC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3" name="grid-h-0">
            <a:extLst xmlns:a="http://schemas.openxmlformats.org/drawingml/2006/main">
              <a:ext uri="{FF2B5EF4-FFF2-40B4-BE49-F238E27FC236}">
                <a16:creationId xmlns:a16="http://schemas.microsoft.com/office/drawing/2014/main" id="{86E8184A-7246-44C6-9773-15D36172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4" name="grid-h-1">
            <a:extLst xmlns:a="http://schemas.openxmlformats.org/drawingml/2006/main">
              <a:ext uri="{FF2B5EF4-FFF2-40B4-BE49-F238E27FC236}">
                <a16:creationId xmlns:a16="http://schemas.microsoft.com/office/drawing/2014/main" id="{9565429D-75E8-4D50-BCA0-91031CF6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5" name="grid-h-2">
            <a:extLst xmlns:a="http://schemas.openxmlformats.org/drawingml/2006/main">
              <a:ext uri="{FF2B5EF4-FFF2-40B4-BE49-F238E27FC236}">
                <a16:creationId xmlns:a16="http://schemas.microsoft.com/office/drawing/2014/main" id="{8DA2DA48-2999-4D2C-9C30-134B1F55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496B8C34-B0B0-4F05-BE86-15B1A5CD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7" name="grid-h-4">
            <a:extLst xmlns:a="http://schemas.openxmlformats.org/drawingml/2006/main">
              <a:ext uri="{FF2B5EF4-FFF2-40B4-BE49-F238E27FC236}">
                <a16:creationId xmlns:a16="http://schemas.microsoft.com/office/drawing/2014/main" id="{FC76FAA3-FC67-4418-940F-4300821A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8" name="accent-glow">
            <a:extLst xmlns:a="http://schemas.openxmlformats.org/drawingml/2006/main">
              <a:ext uri="{FF2B5EF4-FFF2-40B4-BE49-F238E27FC236}">
                <a16:creationId xmlns:a16="http://schemas.microsoft.com/office/drawing/2014/main" id="{F5472CFC-FCA8-43C0-BE25-ED8E564E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42875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A70"/>
          </a:solidFill>
          <a:ln xmlns:a="http://schemas.openxmlformats.org/drawingml/2006/main" w="0">
            <a:solidFill>
              <a:srgbClr val="0A5A70"/>
            </a:solidFill>
            <a:prstDash val="solid"/>
          </a:ln>
        </p:spPr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5027D2D-6C14-422D-A8EE-B1BBB460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E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E9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0" name="brand">
            <a:extLst xmlns:a="http://schemas.openxmlformats.org/drawingml/2006/main">
              <a:ext uri="{FF2B5EF4-FFF2-40B4-BE49-F238E27FC236}">
                <a16:creationId xmlns:a16="http://schemas.microsoft.com/office/drawing/2014/main" id="{5E3FA75E-FB57-4A70-A83B-8D2DAF3C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6D7FF"/>
                </a:solidFill>
                <a:latin typeface="Aptos"/>
                <a:ea typeface="Aptos"/>
                <a:cs typeface="Aptos"/>
              </a:rPr>
              <a:t>SULCUS OS</a:t>
            </a:r>
          </a:p>
        </p:txBody>
      </p:sp>
      <p:sp>
        <p:nvSpPr>
          <p:cNvPr id="21" name="brand-rule">
            <a:extLst xmlns:a="http://schemas.openxmlformats.org/drawingml/2006/main">
              <a:ext uri="{FF2B5EF4-FFF2-40B4-BE49-F238E27FC236}">
                <a16:creationId xmlns:a16="http://schemas.microsoft.com/office/drawing/2014/main" id="{31124FAE-4105-45CD-89BF-BA82656C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D7FF"/>
            </a:solidFill>
            <a:prstDash val="solid"/>
          </a:ln>
        </p:spPr>
      </p:sp>
      <p:sp>
        <p:nvSpPr>
          <p:cNvPr id="22" name="title">
            <a:extLst xmlns:a="http://schemas.openxmlformats.org/drawingml/2006/main">
              <a:ext uri="{FF2B5EF4-FFF2-40B4-BE49-F238E27FC236}">
                <a16:creationId xmlns:a16="http://schemas.microsoft.com/office/drawing/2014/main" id="{EEA4E8B8-B792-4723-979B-1DF0C4F6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Monetization</a:t>
            </a:r>
          </a:p>
        </p:txBody>
      </p:sp>
      <p:sp>
        <p:nvSpPr>
          <p:cNvPr id="23" name="message">
            <a:extLst xmlns:a="http://schemas.openxmlformats.org/drawingml/2006/main">
              <a:ext uri="{FF2B5EF4-FFF2-40B4-BE49-F238E27FC236}">
                <a16:creationId xmlns:a16="http://schemas.microsoft.com/office/drawing/2014/main" id="{6C1A2FE2-4ED1-4AFF-8E76-B9245228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Start open, earn developer trust, then monetize team and production needs.</a:t>
            </a:r>
          </a:p>
        </p:txBody>
      </p:sp>
      <p:sp>
        <p:nvSpPr>
          <p:cNvPr id="24" name="card">
            <a:extLst xmlns:a="http://schemas.openxmlformats.org/drawingml/2006/main">
              <a:ext uri="{FF2B5EF4-FFF2-40B4-BE49-F238E27FC236}">
                <a16:creationId xmlns:a16="http://schemas.microsoft.com/office/drawing/2014/main" id="{97D22736-B1D2-4D79-BB10-42820D9A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67050"/>
            <a:ext cx="11049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36D7FF"/>
            </a:solidFill>
            <a:prstDash val="solid"/>
          </a:ln>
        </p:spPr>
      </p:sp>
      <p:sp>
        <p:nvSpPr>
          <p:cNvPr id="25" name="card-label">
            <a:extLst xmlns:a="http://schemas.openxmlformats.org/drawingml/2006/main">
              <a:ext uri="{FF2B5EF4-FFF2-40B4-BE49-F238E27FC236}">
                <a16:creationId xmlns:a16="http://schemas.microsoft.com/office/drawing/2014/main" id="{6FA44DBB-2C0B-48C1-8419-2FFE30FA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194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Open source</a:t>
            </a:r>
          </a:p>
        </p:txBody>
      </p:sp>
      <p:sp>
        <p:nvSpPr>
          <p:cNvPr id="26" name="card">
            <a:extLst xmlns:a="http://schemas.openxmlformats.org/drawingml/2006/main">
              <a:ext uri="{FF2B5EF4-FFF2-40B4-BE49-F238E27FC236}">
                <a16:creationId xmlns:a16="http://schemas.microsoft.com/office/drawing/2014/main" id="{6E9F6A33-C038-4D82-8CA3-BDA797E1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33800"/>
            <a:ext cx="11049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36D7FF"/>
            </a:solidFill>
            <a:prstDash val="solid"/>
          </a:ln>
        </p:spPr>
      </p:sp>
      <p:sp>
        <p:nvSpPr>
          <p:cNvPr id="27" name="card-label">
            <a:extLst xmlns:a="http://schemas.openxmlformats.org/drawingml/2006/main">
              <a:ext uri="{FF2B5EF4-FFF2-40B4-BE49-F238E27FC236}">
                <a16:creationId xmlns:a16="http://schemas.microsoft.com/office/drawing/2014/main" id="{42095EE7-1C9D-45EA-A439-B0D54F85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8862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Hosted cloud</a:t>
            </a:r>
          </a:p>
        </p:txBody>
      </p:sp>
      <p:cxnSp>
        <p:nvCxnSpPr>
          <p:cNvPr id="78" name=""/>
          <p:cNvCxnSpPr>
            <a:stCxn xmlns:a="http://schemas.openxmlformats.org/drawingml/2006/main" id="2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7486650" y="3362325"/>
            <a:ext cx="180975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sp>
        <p:nvSpPr>
          <p:cNvPr id="29" name="card">
            <a:extLst xmlns:a="http://schemas.openxmlformats.org/drawingml/2006/main">
              <a:ext uri="{FF2B5EF4-FFF2-40B4-BE49-F238E27FC236}">
                <a16:creationId xmlns:a16="http://schemas.microsoft.com/office/drawing/2014/main" id="{9E19A779-1043-4033-8E1E-65EA3E89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67050"/>
            <a:ext cx="11049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36D7FF"/>
            </a:solidFill>
            <a:prstDash val="solid"/>
          </a:ln>
        </p:spPr>
      </p:sp>
      <p:sp>
        <p:nvSpPr>
          <p:cNvPr id="30" name="card-label">
            <a:extLst xmlns:a="http://schemas.openxmlformats.org/drawingml/2006/main">
              <a:ext uri="{FF2B5EF4-FFF2-40B4-BE49-F238E27FC236}">
                <a16:creationId xmlns:a16="http://schemas.microsoft.com/office/drawing/2014/main" id="{0901D454-DB33-4297-8B8E-95A0B50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194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Teams</a:t>
            </a:r>
          </a:p>
        </p:txBody>
      </p:sp>
      <p:cxnSp>
        <p:nvCxnSpPr>
          <p:cNvPr id="81" name=""/>
          <p:cNvCxnSpPr>
            <a:stCxn xmlns:a="http://schemas.openxmlformats.org/drawingml/2006/main" id="26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8772525" y="3362325"/>
            <a:ext cx="180975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sp>
        <p:nvSpPr>
          <p:cNvPr id="32" name="card">
            <a:extLst xmlns:a="http://schemas.openxmlformats.org/drawingml/2006/main">
              <a:ext uri="{FF2B5EF4-FFF2-40B4-BE49-F238E27FC236}">
                <a16:creationId xmlns:a16="http://schemas.microsoft.com/office/drawing/2014/main" id="{B31B63DB-806A-4002-BF3B-D829EBE2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733800"/>
            <a:ext cx="11049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36D7FF"/>
            </a:solidFill>
            <a:prstDash val="solid"/>
          </a:ln>
        </p:spPr>
      </p:sp>
      <p:sp>
        <p:nvSpPr>
          <p:cNvPr id="33" name="card-label">
            <a:extLst xmlns:a="http://schemas.openxmlformats.org/drawingml/2006/main">
              <a:ext uri="{FF2B5EF4-FFF2-40B4-BE49-F238E27FC236}">
                <a16:creationId xmlns:a16="http://schemas.microsoft.com/office/drawing/2014/main" id="{EB49885F-57F2-4ADF-B55B-BA65E5D3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8862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Enterprise</a:t>
            </a:r>
          </a:p>
        </p:txBody>
      </p:sp>
      <p:cxnSp>
        <p:nvCxnSpPr>
          <p:cNvPr id="84" name=""/>
          <p:cNvCxnSpPr>
            <a:stCxn xmlns:a="http://schemas.openxmlformats.org/drawingml/2006/main" id="29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0058400" y="3362325"/>
            <a:ext cx="180975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sp>
        <p:nvSpPr>
          <p:cNvPr id="35" name="dot-0">
            <a:extLst xmlns:a="http://schemas.openxmlformats.org/drawingml/2006/main">
              <a:ext uri="{FF2B5EF4-FFF2-40B4-BE49-F238E27FC236}">
                <a16:creationId xmlns:a16="http://schemas.microsoft.com/office/drawing/2014/main" id="{B575C635-270E-4FF0-951F-0677ED4C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90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6A5"/>
          </a:solidFill>
          <a:ln xmlns:a="http://schemas.openxmlformats.org/drawingml/2006/main" w="0">
            <a:solidFill>
              <a:srgbClr val="55E6A5"/>
            </a:solidFill>
            <a:prstDash val="solid"/>
          </a:ln>
        </p:spPr>
      </p:sp>
      <p:sp>
        <p:nvSpPr>
          <p:cNvPr id="36" name="bullet-0">
            <a:extLst xmlns:a="http://schemas.openxmlformats.org/drawingml/2006/main">
              <a:ext uri="{FF2B5EF4-FFF2-40B4-BE49-F238E27FC236}">
                <a16:creationId xmlns:a16="http://schemas.microsoft.com/office/drawing/2014/main" id="{5C6A35AB-1BB8-4F7C-8CC2-5D5A258B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Open-core model</a:t>
            </a:r>
          </a:p>
        </p:txBody>
      </p:sp>
      <p:sp>
        <p:nvSpPr>
          <p:cNvPr id="37" name="dot-1">
            <a:extLst xmlns:a="http://schemas.openxmlformats.org/drawingml/2006/main">
              <a:ext uri="{FF2B5EF4-FFF2-40B4-BE49-F238E27FC236}">
                <a16:creationId xmlns:a16="http://schemas.microsoft.com/office/drawing/2014/main" id="{17BDC76A-535F-41AF-B6C4-DA7621ED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71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6A5"/>
          </a:solidFill>
          <a:ln xmlns:a="http://schemas.openxmlformats.org/drawingml/2006/main" w="0">
            <a:solidFill>
              <a:srgbClr val="55E6A5"/>
            </a:solidFill>
            <a:prstDash val="solid"/>
          </a:ln>
        </p:spPr>
      </p:sp>
      <p:sp>
        <p:nvSpPr>
          <p:cNvPr id="38" name="bullet-1">
            <a:extLst xmlns:a="http://schemas.openxmlformats.org/drawingml/2006/main">
              <a:ext uri="{FF2B5EF4-FFF2-40B4-BE49-F238E27FC236}">
                <a16:creationId xmlns:a16="http://schemas.microsoft.com/office/drawing/2014/main" id="{214E79B5-09F8-4EF4-86D7-3E0E83AC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Hosted cloud dashboard</a:t>
            </a:r>
          </a:p>
        </p:txBody>
      </p:sp>
      <p:sp>
        <p:nvSpPr>
          <p:cNvPr id="39" name="dot-2">
            <a:extLst xmlns:a="http://schemas.openxmlformats.org/drawingml/2006/main">
              <a:ext uri="{FF2B5EF4-FFF2-40B4-BE49-F238E27FC236}">
                <a16:creationId xmlns:a16="http://schemas.microsoft.com/office/drawing/2014/main" id="{2A2E3037-628F-440C-9D74-BD67E0E3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6A5"/>
          </a:solidFill>
          <a:ln xmlns:a="http://schemas.openxmlformats.org/drawingml/2006/main" w="0">
            <a:solidFill>
              <a:srgbClr val="55E6A5"/>
            </a:solidFill>
            <a:prstDash val="solid"/>
          </a:ln>
        </p:spPr>
      </p:sp>
      <p:sp>
        <p:nvSpPr>
          <p:cNvPr id="40" name="bullet-2">
            <a:extLst xmlns:a="http://schemas.openxmlformats.org/drawingml/2006/main">
              <a:ext uri="{FF2B5EF4-FFF2-40B4-BE49-F238E27FC236}">
                <a16:creationId xmlns:a16="http://schemas.microsoft.com/office/drawing/2014/main" id="{AA93B71D-17B5-4E0C-ABB5-91ADC277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Team features</a:t>
            </a:r>
          </a:p>
        </p:txBody>
      </p:sp>
      <p:sp>
        <p:nvSpPr>
          <p:cNvPr id="41" name="dot-3">
            <a:extLst xmlns:a="http://schemas.openxmlformats.org/drawingml/2006/main">
              <a:ext uri="{FF2B5EF4-FFF2-40B4-BE49-F238E27FC236}">
                <a16:creationId xmlns:a16="http://schemas.microsoft.com/office/drawing/2014/main" id="{8AABD241-70AE-4BDD-B6F1-15669689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33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6A5"/>
          </a:solidFill>
          <a:ln xmlns:a="http://schemas.openxmlformats.org/drawingml/2006/main" w="0">
            <a:solidFill>
              <a:srgbClr val="55E6A5"/>
            </a:solidFill>
            <a:prstDash val="solid"/>
          </a:ln>
        </p:spPr>
      </p:sp>
      <p:sp>
        <p:nvSpPr>
          <p:cNvPr id="42" name="bullet-3">
            <a:extLst xmlns:a="http://schemas.openxmlformats.org/drawingml/2006/main">
              <a:ext uri="{FF2B5EF4-FFF2-40B4-BE49-F238E27FC236}">
                <a16:creationId xmlns:a16="http://schemas.microsoft.com/office/drawing/2014/main" id="{42052C76-782F-4ADA-8BBE-A3DD0D89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Enterprise observability</a:t>
            </a:r>
          </a:p>
        </p:txBody>
      </p:sp>
      <p:sp>
        <p:nvSpPr>
          <p:cNvPr id="43" name="dot-4">
            <a:extLst xmlns:a="http://schemas.openxmlformats.org/drawingml/2006/main">
              <a:ext uri="{FF2B5EF4-FFF2-40B4-BE49-F238E27FC236}">
                <a16:creationId xmlns:a16="http://schemas.microsoft.com/office/drawing/2014/main" id="{9B8B0E07-F97B-4D78-8E4D-7B8846A8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6A5"/>
          </a:solidFill>
          <a:ln xmlns:a="http://schemas.openxmlformats.org/drawingml/2006/main" w="0">
            <a:solidFill>
              <a:srgbClr val="55E6A5"/>
            </a:solidFill>
            <a:prstDash val="solid"/>
          </a:ln>
        </p:spPr>
      </p:sp>
      <p:sp>
        <p:nvSpPr>
          <p:cNvPr id="44" name="bullet-4">
            <a:extLst xmlns:a="http://schemas.openxmlformats.org/drawingml/2006/main">
              <a:ext uri="{FF2B5EF4-FFF2-40B4-BE49-F238E27FC236}">
                <a16:creationId xmlns:a16="http://schemas.microsoft.com/office/drawing/2014/main" id="{109230CF-51C7-460E-AF7C-91103FD8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Managed agent runtime</a:t>
            </a:r>
          </a:p>
        </p:txBody>
      </p:sp>
      <p:sp>
        <p:nvSpPr>
          <p:cNvPr id="45" name="dot-5">
            <a:extLst xmlns:a="http://schemas.openxmlformats.org/drawingml/2006/main">
              <a:ext uri="{FF2B5EF4-FFF2-40B4-BE49-F238E27FC236}">
                <a16:creationId xmlns:a16="http://schemas.microsoft.com/office/drawing/2014/main" id="{C7DB602A-FFD7-4AA5-BB54-DFC9C73F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6A5"/>
          </a:solidFill>
          <a:ln xmlns:a="http://schemas.openxmlformats.org/drawingml/2006/main" w="0">
            <a:solidFill>
              <a:srgbClr val="55E6A5"/>
            </a:solidFill>
            <a:prstDash val="solid"/>
          </a:ln>
        </p:spPr>
      </p:sp>
      <p:sp>
        <p:nvSpPr>
          <p:cNvPr id="46" name="bullet-5">
            <a:extLst xmlns:a="http://schemas.openxmlformats.org/drawingml/2006/main">
              <a:ext uri="{FF2B5EF4-FFF2-40B4-BE49-F238E27FC236}">
                <a16:creationId xmlns:a16="http://schemas.microsoft.com/office/drawing/2014/main" id="{53A2774B-BE10-438F-9A98-769AA57B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Premium SDK/tools</a:t>
            </a:r>
          </a:p>
        </p:txBody>
      </p:sp>
      <p:sp>
        <p:nvSpPr>
          <p:cNvPr id="47" name="dot-6">
            <a:extLst xmlns:a="http://schemas.openxmlformats.org/drawingml/2006/main">
              <a:ext uri="{FF2B5EF4-FFF2-40B4-BE49-F238E27FC236}">
                <a16:creationId xmlns:a16="http://schemas.microsoft.com/office/drawing/2014/main" id="{E243B484-D2A5-47E9-A5DE-718465E8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76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6A5"/>
          </a:solidFill>
          <a:ln xmlns:a="http://schemas.openxmlformats.org/drawingml/2006/main" w="0">
            <a:solidFill>
              <a:srgbClr val="55E6A5"/>
            </a:solidFill>
            <a:prstDash val="solid"/>
          </a:ln>
        </p:spPr>
      </p:sp>
      <p:sp>
        <p:nvSpPr>
          <p:cNvPr id="48" name="bullet-6">
            <a:extLst xmlns:a="http://schemas.openxmlformats.org/drawingml/2006/main">
              <a:ext uri="{FF2B5EF4-FFF2-40B4-BE49-F238E27FC236}">
                <a16:creationId xmlns:a16="http://schemas.microsoft.com/office/drawing/2014/main" id="{08CC00BD-1EA5-4142-94C3-0EB62739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Support and consulting</a:t>
            </a:r>
          </a:p>
        </p:txBody>
      </p:sp>
      <p:sp>
        <p:nvSpPr>
          <p:cNvPr id="49" name="dot-7">
            <a:extLst xmlns:a="http://schemas.openxmlformats.org/drawingml/2006/main">
              <a:ext uri="{FF2B5EF4-FFF2-40B4-BE49-F238E27FC236}">
                <a16:creationId xmlns:a16="http://schemas.microsoft.com/office/drawing/2014/main" id="{0D67AE5D-E86B-42B5-BFD2-2BCE0410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578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6A5"/>
          </a:solidFill>
          <a:ln xmlns:a="http://schemas.openxmlformats.org/drawingml/2006/main" w="0">
            <a:solidFill>
              <a:srgbClr val="55E6A5"/>
            </a:solidFill>
            <a:prstDash val="solid"/>
          </a:ln>
        </p:spPr>
      </p:sp>
      <p:sp>
        <p:nvSpPr>
          <p:cNvPr id="50" name="bullet-7">
            <a:extLst xmlns:a="http://schemas.openxmlformats.org/drawingml/2006/main">
              <a:ext uri="{FF2B5EF4-FFF2-40B4-BE49-F238E27FC236}">
                <a16:creationId xmlns:a16="http://schemas.microsoft.com/office/drawing/2014/main" id="{BB5012DE-0463-4322-9001-A1DD1AB2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91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Design partners</a:t>
            </a:r>
          </a:p>
        </p:txBody>
      </p:sp>
    </p:spTree>
    <p:extLst>
      <p:ext uri="{BB962C8B-B14F-4D97-AF65-F5344CB8AC3E}">
        <p14:creationId xmlns:p14="http://schemas.microsoft.com/office/powerpoint/2010/main" val="14696713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A7E7608-D3D2-4C6B-8E20-4B6C9C16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2" name="bg-base">
            <a:extLst xmlns:a="http://schemas.openxmlformats.org/drawingml/2006/main">
              <a:ext uri="{FF2B5EF4-FFF2-40B4-BE49-F238E27FC236}">
                <a16:creationId xmlns:a16="http://schemas.microsoft.com/office/drawing/2014/main" id="{081955DA-51D5-4629-A792-CCFFE98B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A5A7081A-456F-4FF7-8822-F44BD56E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4" name="grid-v-1">
            <a:extLst xmlns:a="http://schemas.openxmlformats.org/drawingml/2006/main">
              <a:ext uri="{FF2B5EF4-FFF2-40B4-BE49-F238E27FC236}">
                <a16:creationId xmlns:a16="http://schemas.microsoft.com/office/drawing/2014/main" id="{C51D5091-DC31-4A05-877A-CB3064B0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5" name="grid-v-2">
            <a:extLst xmlns:a="http://schemas.openxmlformats.org/drawingml/2006/main">
              <a:ext uri="{FF2B5EF4-FFF2-40B4-BE49-F238E27FC236}">
                <a16:creationId xmlns:a16="http://schemas.microsoft.com/office/drawing/2014/main" id="{6F761F85-C292-473C-A22E-EF030DC6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6" name="grid-v-3">
            <a:extLst xmlns:a="http://schemas.openxmlformats.org/drawingml/2006/main">
              <a:ext uri="{FF2B5EF4-FFF2-40B4-BE49-F238E27FC236}">
                <a16:creationId xmlns:a16="http://schemas.microsoft.com/office/drawing/2014/main" id="{599E580B-26D9-4C82-B192-A4785B7D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7" name="grid-v-4">
            <a:extLst xmlns:a="http://schemas.openxmlformats.org/drawingml/2006/main">
              <a:ext uri="{FF2B5EF4-FFF2-40B4-BE49-F238E27FC236}">
                <a16:creationId xmlns:a16="http://schemas.microsoft.com/office/drawing/2014/main" id="{9C5B2368-E084-4730-801D-BC404F16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8" name="grid-v-5">
            <a:extLst xmlns:a="http://schemas.openxmlformats.org/drawingml/2006/main">
              <a:ext uri="{FF2B5EF4-FFF2-40B4-BE49-F238E27FC236}">
                <a16:creationId xmlns:a16="http://schemas.microsoft.com/office/drawing/2014/main" id="{EB963E7D-42FC-4BD6-A578-D4D20FBE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9" name="grid-v-6">
            <a:extLst xmlns:a="http://schemas.openxmlformats.org/drawingml/2006/main">
              <a:ext uri="{FF2B5EF4-FFF2-40B4-BE49-F238E27FC236}">
                <a16:creationId xmlns:a16="http://schemas.microsoft.com/office/drawing/2014/main" id="{26A0A572-52D4-4138-B304-567AB731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0" name="grid-v-7">
            <a:extLst xmlns:a="http://schemas.openxmlformats.org/drawingml/2006/main">
              <a:ext uri="{FF2B5EF4-FFF2-40B4-BE49-F238E27FC236}">
                <a16:creationId xmlns:a16="http://schemas.microsoft.com/office/drawing/2014/main" id="{6FBD4AC3-30E0-42B2-84B0-1774893E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1" name="grid-v-8">
            <a:extLst xmlns:a="http://schemas.openxmlformats.org/drawingml/2006/main">
              <a:ext uri="{FF2B5EF4-FFF2-40B4-BE49-F238E27FC236}">
                <a16:creationId xmlns:a16="http://schemas.microsoft.com/office/drawing/2014/main" id="{DF52B678-70FD-4CD2-B279-D68F147E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2" name="grid-v-9">
            <a:extLst xmlns:a="http://schemas.openxmlformats.org/drawingml/2006/main">
              <a:ext uri="{FF2B5EF4-FFF2-40B4-BE49-F238E27FC236}">
                <a16:creationId xmlns:a16="http://schemas.microsoft.com/office/drawing/2014/main" id="{BCE3070D-5D88-4FF7-8DDC-C5A56D8D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3" name="grid-h-0">
            <a:extLst xmlns:a="http://schemas.openxmlformats.org/drawingml/2006/main">
              <a:ext uri="{FF2B5EF4-FFF2-40B4-BE49-F238E27FC236}">
                <a16:creationId xmlns:a16="http://schemas.microsoft.com/office/drawing/2014/main" id="{F5403211-6BA9-44D9-8B04-AE094A41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4" name="grid-h-1">
            <a:extLst xmlns:a="http://schemas.openxmlformats.org/drawingml/2006/main">
              <a:ext uri="{FF2B5EF4-FFF2-40B4-BE49-F238E27FC236}">
                <a16:creationId xmlns:a16="http://schemas.microsoft.com/office/drawing/2014/main" id="{84257B63-A355-437C-AE03-4F1909E6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5" name="grid-h-2">
            <a:extLst xmlns:a="http://schemas.openxmlformats.org/drawingml/2006/main">
              <a:ext uri="{FF2B5EF4-FFF2-40B4-BE49-F238E27FC236}">
                <a16:creationId xmlns:a16="http://schemas.microsoft.com/office/drawing/2014/main" id="{85E2EF4B-17B5-457A-9273-A27FB3F2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B3668A90-5419-4986-9C0A-6DA27216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7" name="grid-h-4">
            <a:extLst xmlns:a="http://schemas.openxmlformats.org/drawingml/2006/main">
              <a:ext uri="{FF2B5EF4-FFF2-40B4-BE49-F238E27FC236}">
                <a16:creationId xmlns:a16="http://schemas.microsoft.com/office/drawing/2014/main" id="{E5532FF1-BB09-40AC-AFFB-66DC2DBA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8" name="accent-glow">
            <a:extLst xmlns:a="http://schemas.openxmlformats.org/drawingml/2006/main">
              <a:ext uri="{FF2B5EF4-FFF2-40B4-BE49-F238E27FC236}">
                <a16:creationId xmlns:a16="http://schemas.microsoft.com/office/drawing/2014/main" id="{E0280C90-7B64-4773-95B1-7B9C1A5E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42875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A70"/>
          </a:solidFill>
          <a:ln xmlns:a="http://schemas.openxmlformats.org/drawingml/2006/main" w="0">
            <a:solidFill>
              <a:srgbClr val="0A5A70"/>
            </a:solidFill>
            <a:prstDash val="solid"/>
          </a:ln>
        </p:spPr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EDCDF51-F5B6-4F81-A81E-1D0B04E2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E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E9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0" name="brand">
            <a:extLst xmlns:a="http://schemas.openxmlformats.org/drawingml/2006/main">
              <a:ext uri="{FF2B5EF4-FFF2-40B4-BE49-F238E27FC236}">
                <a16:creationId xmlns:a16="http://schemas.microsoft.com/office/drawing/2014/main" id="{37047E71-D58B-4EB9-B0EF-4A4313BA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6D7FF"/>
                </a:solidFill>
                <a:latin typeface="Aptos"/>
                <a:ea typeface="Aptos"/>
                <a:cs typeface="Aptos"/>
              </a:rPr>
              <a:t>SULCUS OS</a:t>
            </a:r>
          </a:p>
        </p:txBody>
      </p:sp>
      <p:sp>
        <p:nvSpPr>
          <p:cNvPr id="21" name="brand-rule">
            <a:extLst xmlns:a="http://schemas.openxmlformats.org/drawingml/2006/main">
              <a:ext uri="{FF2B5EF4-FFF2-40B4-BE49-F238E27FC236}">
                <a16:creationId xmlns:a16="http://schemas.microsoft.com/office/drawing/2014/main" id="{99D0F008-D0DF-46B7-B8DF-EFE89C29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D7FF"/>
            </a:solidFill>
            <a:prstDash val="solid"/>
          </a:ln>
        </p:spPr>
      </p:sp>
      <p:sp>
        <p:nvSpPr>
          <p:cNvPr id="22" name="title">
            <a:extLst xmlns:a="http://schemas.openxmlformats.org/drawingml/2006/main">
              <a:ext uri="{FF2B5EF4-FFF2-40B4-BE49-F238E27FC236}">
                <a16:creationId xmlns:a16="http://schemas.microsoft.com/office/drawing/2014/main" id="{936CC8E2-59C3-4CB7-8DDE-490C9E88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Go-To-Market</a:t>
            </a:r>
          </a:p>
        </p:txBody>
      </p:sp>
      <p:sp>
        <p:nvSpPr>
          <p:cNvPr id="23" name="message">
            <a:extLst xmlns:a="http://schemas.openxmlformats.org/drawingml/2006/main">
              <a:ext uri="{FF2B5EF4-FFF2-40B4-BE49-F238E27FC236}">
                <a16:creationId xmlns:a16="http://schemas.microsoft.com/office/drawing/2014/main" id="{148B0F89-C414-481C-8E3F-326B7260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Build in public, earn developer attention, and convert early design partners.</a:t>
            </a:r>
          </a:p>
        </p:txBody>
      </p:sp>
      <p:sp>
        <p:nvSpPr>
          <p:cNvPr id="24" name="card">
            <a:extLst xmlns:a="http://schemas.openxmlformats.org/drawingml/2006/main">
              <a:ext uri="{FF2B5EF4-FFF2-40B4-BE49-F238E27FC236}">
                <a16:creationId xmlns:a16="http://schemas.microsoft.com/office/drawing/2014/main" id="{C9FBA6C9-DE2D-4740-933C-AB0297AC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05050"/>
            <a:ext cx="1257300" cy="5334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36D7FF"/>
            </a:solidFill>
            <a:prstDash val="solid"/>
          </a:ln>
        </p:spPr>
      </p:sp>
      <p:sp>
        <p:nvSpPr>
          <p:cNvPr id="25" name="card-label">
            <a:extLst xmlns:a="http://schemas.openxmlformats.org/drawingml/2006/main">
              <a:ext uri="{FF2B5EF4-FFF2-40B4-BE49-F238E27FC236}">
                <a16:creationId xmlns:a16="http://schemas.microsoft.com/office/drawing/2014/main" id="{3D69B3F9-8FE4-44F0-8D27-682060FA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2887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Demos</a:t>
            </a:r>
          </a:p>
        </p:txBody>
      </p:sp>
      <p:sp>
        <p:nvSpPr>
          <p:cNvPr id="26" name="card">
            <a:extLst xmlns:a="http://schemas.openxmlformats.org/drawingml/2006/main">
              <a:ext uri="{FF2B5EF4-FFF2-40B4-BE49-F238E27FC236}">
                <a16:creationId xmlns:a16="http://schemas.microsoft.com/office/drawing/2014/main" id="{E160BE0B-0060-4718-B12F-0A40AD4D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76600"/>
            <a:ext cx="1257300" cy="5334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36D7FF"/>
            </a:solidFill>
            <a:prstDash val="solid"/>
          </a:ln>
        </p:spPr>
      </p:sp>
      <p:sp>
        <p:nvSpPr>
          <p:cNvPr id="27" name="card-label">
            <a:extLst xmlns:a="http://schemas.openxmlformats.org/drawingml/2006/main">
              <a:ext uri="{FF2B5EF4-FFF2-40B4-BE49-F238E27FC236}">
                <a16:creationId xmlns:a16="http://schemas.microsoft.com/office/drawing/2014/main" id="{5F88D559-8A4E-460B-AF16-DB27C39B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0042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Developers</a:t>
            </a:r>
          </a:p>
        </p:txBody>
      </p:sp>
      <p:sp>
        <p:nvSpPr>
          <p:cNvPr id="28" name="card">
            <a:extLst xmlns:a="http://schemas.openxmlformats.org/drawingml/2006/main">
              <a:ext uri="{FF2B5EF4-FFF2-40B4-BE49-F238E27FC236}">
                <a16:creationId xmlns:a16="http://schemas.microsoft.com/office/drawing/2014/main" id="{BDD72EAC-2902-4BBC-B12A-D0C5D53B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33950"/>
            <a:ext cx="1257300" cy="5334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36D7FF"/>
            </a:solidFill>
            <a:prstDash val="solid"/>
          </a:ln>
        </p:spPr>
      </p:sp>
      <p:sp>
        <p:nvSpPr>
          <p:cNvPr id="29" name="card-label">
            <a:extLst xmlns:a="http://schemas.openxmlformats.org/drawingml/2006/main">
              <a:ext uri="{FF2B5EF4-FFF2-40B4-BE49-F238E27FC236}">
                <a16:creationId xmlns:a16="http://schemas.microsoft.com/office/drawing/2014/main" id="{89054E0D-7CD1-4085-9BEB-F996AAE4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5777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Examples</a:t>
            </a:r>
          </a:p>
        </p:txBody>
      </p:sp>
      <p:sp>
        <p:nvSpPr>
          <p:cNvPr id="30" name="card">
            <a:extLst xmlns:a="http://schemas.openxmlformats.org/drawingml/2006/main">
              <a:ext uri="{FF2B5EF4-FFF2-40B4-BE49-F238E27FC236}">
                <a16:creationId xmlns:a16="http://schemas.microsoft.com/office/drawing/2014/main" id="{6CF939A6-24C2-4C4E-9E8D-63E051BF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33950"/>
            <a:ext cx="1257300" cy="5334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36D7FF"/>
            </a:solidFill>
            <a:prstDash val="solid"/>
          </a:ln>
        </p:spPr>
      </p:sp>
      <p:sp>
        <p:nvSpPr>
          <p:cNvPr id="31" name="card-label">
            <a:extLst xmlns:a="http://schemas.openxmlformats.org/drawingml/2006/main">
              <a:ext uri="{FF2B5EF4-FFF2-40B4-BE49-F238E27FC236}">
                <a16:creationId xmlns:a16="http://schemas.microsoft.com/office/drawing/2014/main" id="{F1F498E2-C975-44BD-A019-33CE55E3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5777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Design partners</a:t>
            </a:r>
          </a:p>
        </p:txBody>
      </p:sp>
      <p:sp>
        <p:nvSpPr>
          <p:cNvPr id="32" name="card">
            <a:extLst xmlns:a="http://schemas.openxmlformats.org/drawingml/2006/main">
              <a:ext uri="{FF2B5EF4-FFF2-40B4-BE49-F238E27FC236}">
                <a16:creationId xmlns:a16="http://schemas.microsoft.com/office/drawing/2014/main" id="{2A6F82AA-11DD-4EB1-92B7-5B674D7B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1257300" cy="5334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36D7FF"/>
            </a:solidFill>
            <a:prstDash val="solid"/>
          </a:ln>
        </p:spPr>
      </p:sp>
      <p:sp>
        <p:nvSpPr>
          <p:cNvPr id="33" name="card-label">
            <a:extLst xmlns:a="http://schemas.openxmlformats.org/drawingml/2006/main">
              <a:ext uri="{FF2B5EF4-FFF2-40B4-BE49-F238E27FC236}">
                <a16:creationId xmlns:a16="http://schemas.microsoft.com/office/drawing/2014/main" id="{6AD892C6-F485-4131-B8CB-FB637723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0042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cxnSp>
        <p:nvCxnSpPr>
          <p:cNvPr id="86" name=""/>
          <p:cNvCxnSpPr>
            <a:stCxn xmlns:a="http://schemas.openxmlformats.org/drawingml/2006/main" id="2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201150" y="2571750"/>
            <a:ext cx="17145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cxnSp>
        <p:nvCxnSpPr>
          <p:cNvPr id="87" name=""/>
          <p:cNvCxnSpPr>
            <a:stCxn xmlns:a="http://schemas.openxmlformats.org/drawingml/2006/main" id="2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H="1">
            <a:off x="8839200" y="3543300"/>
            <a:ext cx="1790700" cy="1657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cxnSp>
        <p:nvCxnSpPr>
          <p:cNvPr id="88" name=""/>
          <p:cNvCxnSpPr>
            <a:stCxn xmlns:a="http://schemas.openxmlformats.org/drawingml/2006/main" id="28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H="1">
            <a:off x="7048500" y="520065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cxnSp>
        <p:nvCxnSpPr>
          <p:cNvPr id="89" name=""/>
          <p:cNvCxnSpPr>
            <a:stCxn xmlns:a="http://schemas.openxmlformats.org/drawingml/2006/main" id="30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H="1" flipV="1">
            <a:off x="6515100" y="3543300"/>
            <a:ext cx="1790700" cy="1657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cxnSp>
        <p:nvCxnSpPr>
          <p:cNvPr id="90" name=""/>
          <p:cNvCxnSpPr>
            <a:stCxn xmlns:a="http://schemas.openxmlformats.org/drawingml/2006/main" id="3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7772400" y="2571750"/>
            <a:ext cx="17145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sp>
        <p:nvSpPr>
          <p:cNvPr id="39" name="dot-0">
            <a:extLst xmlns:a="http://schemas.openxmlformats.org/drawingml/2006/main">
              <a:ext uri="{FF2B5EF4-FFF2-40B4-BE49-F238E27FC236}">
                <a16:creationId xmlns:a16="http://schemas.microsoft.com/office/drawing/2014/main" id="{9CEBD4C1-571B-47CD-BC10-4C1FD3CF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14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40" name="bullet-0">
            <a:extLst xmlns:a="http://schemas.openxmlformats.org/drawingml/2006/main">
              <a:ext uri="{FF2B5EF4-FFF2-40B4-BE49-F238E27FC236}">
                <a16:creationId xmlns:a16="http://schemas.microsoft.com/office/drawing/2014/main" id="{E808C6D8-C469-40B7-8654-0CD06997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Open-source launch</a:t>
            </a:r>
          </a:p>
        </p:txBody>
      </p:sp>
      <p:sp>
        <p:nvSpPr>
          <p:cNvPr id="41" name="dot-1">
            <a:extLst xmlns:a="http://schemas.openxmlformats.org/drawingml/2006/main">
              <a:ext uri="{FF2B5EF4-FFF2-40B4-BE49-F238E27FC236}">
                <a16:creationId xmlns:a16="http://schemas.microsoft.com/office/drawing/2014/main" id="{3C5E6A79-D122-48AA-AC6D-550BBACC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42" name="bullet-1">
            <a:extLst xmlns:a="http://schemas.openxmlformats.org/drawingml/2006/main">
              <a:ext uri="{FF2B5EF4-FFF2-40B4-BE49-F238E27FC236}">
                <a16:creationId xmlns:a16="http://schemas.microsoft.com/office/drawing/2014/main" id="{8530043E-F5D4-44F3-8BE0-CDA997FF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194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Weekly demo videos on X, LinkedIn, YouTube</a:t>
            </a:r>
          </a:p>
        </p:txBody>
      </p:sp>
      <p:sp>
        <p:nvSpPr>
          <p:cNvPr id="43" name="dot-2">
            <a:extLst xmlns:a="http://schemas.openxmlformats.org/drawingml/2006/main">
              <a:ext uri="{FF2B5EF4-FFF2-40B4-BE49-F238E27FC236}">
                <a16:creationId xmlns:a16="http://schemas.microsoft.com/office/drawing/2014/main" id="{5A82577D-A578-41CF-A52F-6CB2174C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7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44" name="bullet-2">
            <a:extLst xmlns:a="http://schemas.openxmlformats.org/drawingml/2006/main">
              <a:ext uri="{FF2B5EF4-FFF2-40B4-BE49-F238E27FC236}">
                <a16:creationId xmlns:a16="http://schemas.microsoft.com/office/drawing/2014/main" id="{6CABC7DC-DAA1-45CE-B187-E3E652B7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Developer documentation</a:t>
            </a:r>
          </a:p>
        </p:txBody>
      </p:sp>
      <p:sp>
        <p:nvSpPr>
          <p:cNvPr id="45" name="dot-3">
            <a:extLst xmlns:a="http://schemas.openxmlformats.org/drawingml/2006/main">
              <a:ext uri="{FF2B5EF4-FFF2-40B4-BE49-F238E27FC236}">
                <a16:creationId xmlns:a16="http://schemas.microsoft.com/office/drawing/2014/main" id="{ABCADFF2-EBDB-4C89-940F-C783FA15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46" name="bullet-3">
            <a:extLst xmlns:a="http://schemas.openxmlformats.org/drawingml/2006/main">
              <a:ext uri="{FF2B5EF4-FFF2-40B4-BE49-F238E27FC236}">
                <a16:creationId xmlns:a16="http://schemas.microsoft.com/office/drawing/2014/main" id="{585D6CA8-C7DC-4AAE-B12D-B195E373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62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Example agent apps</a:t>
            </a:r>
          </a:p>
        </p:txBody>
      </p:sp>
      <p:sp>
        <p:nvSpPr>
          <p:cNvPr id="47" name="dot-4">
            <a:extLst xmlns:a="http://schemas.openxmlformats.org/drawingml/2006/main">
              <a:ext uri="{FF2B5EF4-FFF2-40B4-BE49-F238E27FC236}">
                <a16:creationId xmlns:a16="http://schemas.microsoft.com/office/drawing/2014/main" id="{89279BCC-E4E3-4E46-9E72-7CB0D7D3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48" name="bullet-4">
            <a:extLst xmlns:a="http://schemas.openxmlformats.org/drawingml/2006/main">
              <a:ext uri="{FF2B5EF4-FFF2-40B4-BE49-F238E27FC236}">
                <a16:creationId xmlns:a16="http://schemas.microsoft.com/office/drawing/2014/main" id="{4B6BA1E9-7947-4F0F-98F2-544E5C43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Startup and research use cases</a:t>
            </a:r>
          </a:p>
        </p:txBody>
      </p:sp>
      <p:sp>
        <p:nvSpPr>
          <p:cNvPr id="49" name="dot-5">
            <a:extLst xmlns:a="http://schemas.openxmlformats.org/drawingml/2006/main">
              <a:ext uri="{FF2B5EF4-FFF2-40B4-BE49-F238E27FC236}">
                <a16:creationId xmlns:a16="http://schemas.microsoft.com/office/drawing/2014/main" id="{141E4045-0517-4208-8313-AD243AF9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50" name="bullet-5">
            <a:extLst xmlns:a="http://schemas.openxmlformats.org/drawingml/2006/main">
              <a:ext uri="{FF2B5EF4-FFF2-40B4-BE49-F238E27FC236}">
                <a16:creationId xmlns:a16="http://schemas.microsoft.com/office/drawing/2014/main" id="{C5424675-70DE-4AAE-B747-716FD504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053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YC Startup School / YC application path</a:t>
            </a:r>
          </a:p>
        </p:txBody>
      </p:sp>
      <p:sp>
        <p:nvSpPr>
          <p:cNvPr id="51" name="dot-6">
            <a:extLst xmlns:a="http://schemas.openxmlformats.org/drawingml/2006/main">
              <a:ext uri="{FF2B5EF4-FFF2-40B4-BE49-F238E27FC236}">
                <a16:creationId xmlns:a16="http://schemas.microsoft.com/office/drawing/2014/main" id="{6BCB613E-3ABA-4291-AB76-4CD08948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43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52" name="bullet-6">
            <a:extLst xmlns:a="http://schemas.openxmlformats.org/drawingml/2006/main">
              <a:ext uri="{FF2B5EF4-FFF2-40B4-BE49-F238E27FC236}">
                <a16:creationId xmlns:a16="http://schemas.microsoft.com/office/drawing/2014/main" id="{5C99194C-306A-452E-B039-5075E85C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Early design partners</a:t>
            </a:r>
          </a:p>
        </p:txBody>
      </p:sp>
    </p:spTree>
    <p:extLst>
      <p:ext uri="{BB962C8B-B14F-4D97-AF65-F5344CB8AC3E}">
        <p14:creationId xmlns:p14="http://schemas.microsoft.com/office/powerpoint/2010/main" val="17191234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D306A32-5F55-4232-B89E-4F585AE9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2" name="bg-base">
            <a:extLst xmlns:a="http://schemas.openxmlformats.org/drawingml/2006/main">
              <a:ext uri="{FF2B5EF4-FFF2-40B4-BE49-F238E27FC236}">
                <a16:creationId xmlns:a16="http://schemas.microsoft.com/office/drawing/2014/main" id="{02CA1338-8C25-4C2B-A3E6-5F0EECA4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988D8601-0259-4C3C-814C-AF4FFECC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4" name="grid-v-1">
            <a:extLst xmlns:a="http://schemas.openxmlformats.org/drawingml/2006/main">
              <a:ext uri="{FF2B5EF4-FFF2-40B4-BE49-F238E27FC236}">
                <a16:creationId xmlns:a16="http://schemas.microsoft.com/office/drawing/2014/main" id="{835E2832-C749-41E3-8331-5DF59B79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5" name="grid-v-2">
            <a:extLst xmlns:a="http://schemas.openxmlformats.org/drawingml/2006/main">
              <a:ext uri="{FF2B5EF4-FFF2-40B4-BE49-F238E27FC236}">
                <a16:creationId xmlns:a16="http://schemas.microsoft.com/office/drawing/2014/main" id="{414C455B-8AA7-411F-A53E-FAB60A14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6" name="grid-v-3">
            <a:extLst xmlns:a="http://schemas.openxmlformats.org/drawingml/2006/main">
              <a:ext uri="{FF2B5EF4-FFF2-40B4-BE49-F238E27FC236}">
                <a16:creationId xmlns:a16="http://schemas.microsoft.com/office/drawing/2014/main" id="{A23E6542-C90E-440E-A81E-78954B46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7" name="grid-v-4">
            <a:extLst xmlns:a="http://schemas.openxmlformats.org/drawingml/2006/main">
              <a:ext uri="{FF2B5EF4-FFF2-40B4-BE49-F238E27FC236}">
                <a16:creationId xmlns:a16="http://schemas.microsoft.com/office/drawing/2014/main" id="{07A83B51-7B4B-4577-930B-EB0F09A4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8" name="grid-v-5">
            <a:extLst xmlns:a="http://schemas.openxmlformats.org/drawingml/2006/main">
              <a:ext uri="{FF2B5EF4-FFF2-40B4-BE49-F238E27FC236}">
                <a16:creationId xmlns:a16="http://schemas.microsoft.com/office/drawing/2014/main" id="{25DB2C7A-C9E8-488F-B237-6106A308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9" name="grid-v-6">
            <a:extLst xmlns:a="http://schemas.openxmlformats.org/drawingml/2006/main">
              <a:ext uri="{FF2B5EF4-FFF2-40B4-BE49-F238E27FC236}">
                <a16:creationId xmlns:a16="http://schemas.microsoft.com/office/drawing/2014/main" id="{C1026040-258F-4C4B-9C24-42C0F93E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0" name="grid-v-7">
            <a:extLst xmlns:a="http://schemas.openxmlformats.org/drawingml/2006/main">
              <a:ext uri="{FF2B5EF4-FFF2-40B4-BE49-F238E27FC236}">
                <a16:creationId xmlns:a16="http://schemas.microsoft.com/office/drawing/2014/main" id="{C3021270-3981-4E8E-8B5D-6F78E88E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1" name="grid-v-8">
            <a:extLst xmlns:a="http://schemas.openxmlformats.org/drawingml/2006/main">
              <a:ext uri="{FF2B5EF4-FFF2-40B4-BE49-F238E27FC236}">
                <a16:creationId xmlns:a16="http://schemas.microsoft.com/office/drawing/2014/main" id="{64924352-5818-4599-88CC-5826EE68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2" name="grid-v-9">
            <a:extLst xmlns:a="http://schemas.openxmlformats.org/drawingml/2006/main">
              <a:ext uri="{FF2B5EF4-FFF2-40B4-BE49-F238E27FC236}">
                <a16:creationId xmlns:a16="http://schemas.microsoft.com/office/drawing/2014/main" id="{A88D08DE-AF7E-4EEC-A86F-04AB2CF9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3" name="grid-h-0">
            <a:extLst xmlns:a="http://schemas.openxmlformats.org/drawingml/2006/main">
              <a:ext uri="{FF2B5EF4-FFF2-40B4-BE49-F238E27FC236}">
                <a16:creationId xmlns:a16="http://schemas.microsoft.com/office/drawing/2014/main" id="{BB4DBFB0-EE75-40D3-A910-F1890343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4" name="grid-h-1">
            <a:extLst xmlns:a="http://schemas.openxmlformats.org/drawingml/2006/main">
              <a:ext uri="{FF2B5EF4-FFF2-40B4-BE49-F238E27FC236}">
                <a16:creationId xmlns:a16="http://schemas.microsoft.com/office/drawing/2014/main" id="{8EEDFB3C-9D53-48B4-9082-224BB1CD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5" name="grid-h-2">
            <a:extLst xmlns:a="http://schemas.openxmlformats.org/drawingml/2006/main">
              <a:ext uri="{FF2B5EF4-FFF2-40B4-BE49-F238E27FC236}">
                <a16:creationId xmlns:a16="http://schemas.microsoft.com/office/drawing/2014/main" id="{6B13E6E8-FC2F-4E09-8DB1-56CCE58D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06399516-4FF9-4F1F-8612-BC646D45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7" name="grid-h-4">
            <a:extLst xmlns:a="http://schemas.openxmlformats.org/drawingml/2006/main">
              <a:ext uri="{FF2B5EF4-FFF2-40B4-BE49-F238E27FC236}">
                <a16:creationId xmlns:a16="http://schemas.microsoft.com/office/drawing/2014/main" id="{437076BF-E492-4619-A859-03674546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8" name="accent-glow">
            <a:extLst xmlns:a="http://schemas.openxmlformats.org/drawingml/2006/main">
              <a:ext uri="{FF2B5EF4-FFF2-40B4-BE49-F238E27FC236}">
                <a16:creationId xmlns:a16="http://schemas.microsoft.com/office/drawing/2014/main" id="{C03F966D-A665-4DB7-8FAC-7D38497C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42875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A70"/>
          </a:solidFill>
          <a:ln xmlns:a="http://schemas.openxmlformats.org/drawingml/2006/main" w="0">
            <a:solidFill>
              <a:srgbClr val="0A5A70"/>
            </a:solidFill>
            <a:prstDash val="solid"/>
          </a:ln>
        </p:spPr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7253A1A-68D8-4EEB-8D17-CB7CE956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E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E9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0" name="brand">
            <a:extLst xmlns:a="http://schemas.openxmlformats.org/drawingml/2006/main">
              <a:ext uri="{FF2B5EF4-FFF2-40B4-BE49-F238E27FC236}">
                <a16:creationId xmlns:a16="http://schemas.microsoft.com/office/drawing/2014/main" id="{BE89AA91-1D89-4D23-85E2-98F719BA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6D7FF"/>
                </a:solidFill>
                <a:latin typeface="Aptos"/>
                <a:ea typeface="Aptos"/>
                <a:cs typeface="Aptos"/>
              </a:rPr>
              <a:t>SULCUS OS</a:t>
            </a:r>
          </a:p>
        </p:txBody>
      </p:sp>
      <p:sp>
        <p:nvSpPr>
          <p:cNvPr id="21" name="brand-rule">
            <a:extLst xmlns:a="http://schemas.openxmlformats.org/drawingml/2006/main">
              <a:ext uri="{FF2B5EF4-FFF2-40B4-BE49-F238E27FC236}">
                <a16:creationId xmlns:a16="http://schemas.microsoft.com/office/drawing/2014/main" id="{B2E89953-BF5B-480D-BA83-64C870EC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D7FF"/>
            </a:solidFill>
            <a:prstDash val="solid"/>
          </a:ln>
        </p:spPr>
      </p:sp>
      <p:sp>
        <p:nvSpPr>
          <p:cNvPr id="22" name="title">
            <a:extLst xmlns:a="http://schemas.openxmlformats.org/drawingml/2006/main">
              <a:ext uri="{FF2B5EF4-FFF2-40B4-BE49-F238E27FC236}">
                <a16:creationId xmlns:a16="http://schemas.microsoft.com/office/drawing/2014/main" id="{E118F38B-6380-4E41-9D24-3C303E29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Future Vision</a:t>
            </a:r>
          </a:p>
        </p:txBody>
      </p:sp>
      <p:sp>
        <p:nvSpPr>
          <p:cNvPr id="23" name="message">
            <a:extLst xmlns:a="http://schemas.openxmlformats.org/drawingml/2006/main">
              <a:ext uri="{FF2B5EF4-FFF2-40B4-BE49-F238E27FC236}">
                <a16:creationId xmlns:a16="http://schemas.microsoft.com/office/drawing/2014/main" id="{AF696014-6813-4EEB-B287-C128ED02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Sulcus OS becomes the foundational runtime where agents safely work together.</a:t>
            </a:r>
          </a:p>
        </p:txBody>
      </p:sp>
      <p:sp>
        <p:nvSpPr>
          <p:cNvPr id="24" name="card">
            <a:extLst xmlns:a="http://schemas.openxmlformats.org/drawingml/2006/main">
              <a:ext uri="{FF2B5EF4-FFF2-40B4-BE49-F238E27FC236}">
                <a16:creationId xmlns:a16="http://schemas.microsoft.com/office/drawing/2014/main" id="{760E89E9-C643-409F-9350-99FEC371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19450"/>
            <a:ext cx="1866900" cy="8001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36D7FF"/>
            </a:solidFill>
            <a:prstDash val="solid"/>
          </a:ln>
        </p:spPr>
      </p:sp>
      <p:sp>
        <p:nvSpPr>
          <p:cNvPr id="25" name="card-label">
            <a:extLst xmlns:a="http://schemas.openxmlformats.org/drawingml/2006/main">
              <a:ext uri="{FF2B5EF4-FFF2-40B4-BE49-F238E27FC236}">
                <a16:creationId xmlns:a16="http://schemas.microsoft.com/office/drawing/2014/main" id="{0D2C136E-A263-4D0E-B96C-8933326E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766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Safe agent</a:t>
            </a:r>
          </a:p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26" name="pill">
            <a:extLst xmlns:a="http://schemas.openxmlformats.org/drawingml/2006/main">
              <a:ext uri="{FF2B5EF4-FFF2-40B4-BE49-F238E27FC236}">
                <a16:creationId xmlns:a16="http://schemas.microsoft.com/office/drawing/2014/main" id="{18B75C6E-EE90-4BB8-A6EE-42AF54F6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1238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D2E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27" name="pill-label">
            <a:extLst xmlns:a="http://schemas.openxmlformats.org/drawingml/2006/main">
              <a:ext uri="{FF2B5EF4-FFF2-40B4-BE49-F238E27FC236}">
                <a16:creationId xmlns:a16="http://schemas.microsoft.com/office/drawing/2014/main" id="{C1021EDC-0B78-4573-AFD8-DB2789C3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5265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Apps</a:t>
            </a:r>
          </a:p>
        </p:txBody>
      </p:sp>
      <p:cxnSp>
        <p:nvCxnSpPr>
          <p:cNvPr id="73" name=""/>
          <p:cNvCxnSpPr>
            <a:stCxn xmlns:a="http://schemas.openxmlformats.org/drawingml/2006/main" id="2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H="1" flipV="1">
            <a:off x="6667500" y="2257425"/>
            <a:ext cx="278130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sp>
        <p:nvSpPr>
          <p:cNvPr id="29" name="pill">
            <a:extLst xmlns:a="http://schemas.openxmlformats.org/drawingml/2006/main">
              <a:ext uri="{FF2B5EF4-FFF2-40B4-BE49-F238E27FC236}">
                <a16:creationId xmlns:a16="http://schemas.microsoft.com/office/drawing/2014/main" id="{7C3ABCDD-FF64-4682-8FF2-AE1B347F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14550"/>
            <a:ext cx="1257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D2E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0" name="pill-label">
            <a:extLst xmlns:a="http://schemas.openxmlformats.org/drawingml/2006/main">
              <a:ext uri="{FF2B5EF4-FFF2-40B4-BE49-F238E27FC236}">
                <a16:creationId xmlns:a16="http://schemas.microsoft.com/office/drawing/2014/main" id="{456939E8-E64B-4D0C-8C7E-A004E3C7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9075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Teams</a:t>
            </a:r>
          </a:p>
        </p:txBody>
      </p:sp>
      <p:cxnSp>
        <p:nvCxnSpPr>
          <p:cNvPr id="76" name=""/>
          <p:cNvCxnSpPr>
            <a:stCxn xmlns:a="http://schemas.openxmlformats.org/drawingml/2006/main" id="24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9448800" y="2295525"/>
            <a:ext cx="266700" cy="1323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sp>
        <p:nvSpPr>
          <p:cNvPr id="32" name="pill">
            <a:extLst xmlns:a="http://schemas.openxmlformats.org/drawingml/2006/main">
              <a:ext uri="{FF2B5EF4-FFF2-40B4-BE49-F238E27FC236}">
                <a16:creationId xmlns:a16="http://schemas.microsoft.com/office/drawing/2014/main" id="{BF4D3772-4240-4F6F-B9B9-8BFB32D6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43450"/>
            <a:ext cx="1390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D2E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3" name="pill-label">
            <a:extLst xmlns:a="http://schemas.openxmlformats.org/drawingml/2006/main">
              <a:ext uri="{FF2B5EF4-FFF2-40B4-BE49-F238E27FC236}">
                <a16:creationId xmlns:a16="http://schemas.microsoft.com/office/drawing/2014/main" id="{40A56588-3166-4D11-A83F-21EB192B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1965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Workflows</a:t>
            </a:r>
          </a:p>
        </p:txBody>
      </p:sp>
      <p:cxnSp>
        <p:nvCxnSpPr>
          <p:cNvPr id="79" name=""/>
          <p:cNvCxnSpPr>
            <a:stCxn xmlns:a="http://schemas.openxmlformats.org/drawingml/2006/main" id="24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H="1">
            <a:off x="6553200" y="3619500"/>
            <a:ext cx="2895600" cy="1304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sp>
        <p:nvSpPr>
          <p:cNvPr id="35" name="pill">
            <a:extLst xmlns:a="http://schemas.openxmlformats.org/drawingml/2006/main">
              <a:ext uri="{FF2B5EF4-FFF2-40B4-BE49-F238E27FC236}">
                <a16:creationId xmlns:a16="http://schemas.microsoft.com/office/drawing/2014/main" id="{791CE13C-3BD9-44AD-9F82-B2493405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43450"/>
            <a:ext cx="13144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D2E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6" name="pill-label">
            <a:extLst xmlns:a="http://schemas.openxmlformats.org/drawingml/2006/main">
              <a:ext uri="{FF2B5EF4-FFF2-40B4-BE49-F238E27FC236}">
                <a16:creationId xmlns:a16="http://schemas.microsoft.com/office/drawing/2014/main" id="{F3B3B53D-6E35-4E0C-AF4D-018C238D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8196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Robotics</a:t>
            </a:r>
          </a:p>
        </p:txBody>
      </p:sp>
      <p:cxnSp>
        <p:nvCxnSpPr>
          <p:cNvPr id="82" name=""/>
          <p:cNvCxnSpPr>
            <a:stCxn xmlns:a="http://schemas.openxmlformats.org/drawingml/2006/main" id="2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448800" y="3619500"/>
            <a:ext cx="361950" cy="1304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sp>
        <p:nvSpPr>
          <p:cNvPr id="38" name="dot-0">
            <a:extLst xmlns:a="http://schemas.openxmlformats.org/drawingml/2006/main">
              <a:ext uri="{FF2B5EF4-FFF2-40B4-BE49-F238E27FC236}">
                <a16:creationId xmlns:a16="http://schemas.microsoft.com/office/drawing/2014/main" id="{D3EF1975-5E07-405D-99AF-6FAF0EA3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24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39" name="bullet-0">
            <a:extLst xmlns:a="http://schemas.openxmlformats.org/drawingml/2006/main">
              <a:ext uri="{FF2B5EF4-FFF2-40B4-BE49-F238E27FC236}">
                <a16:creationId xmlns:a16="http://schemas.microsoft.com/office/drawing/2014/main" id="{290DF9E5-806C-44E6-BB51-10A6A20E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Agents collaborate across software workflows</a:t>
            </a:r>
          </a:p>
        </p:txBody>
      </p:sp>
      <p:sp>
        <p:nvSpPr>
          <p:cNvPr id="40" name="dot-1">
            <a:extLst xmlns:a="http://schemas.openxmlformats.org/drawingml/2006/main">
              <a:ext uri="{FF2B5EF4-FFF2-40B4-BE49-F238E27FC236}">
                <a16:creationId xmlns:a16="http://schemas.microsoft.com/office/drawing/2014/main" id="{D552E54B-91AB-40C1-8482-831AFA19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0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41" name="bullet-1">
            <a:extLst xmlns:a="http://schemas.openxmlformats.org/drawingml/2006/main">
              <a:ext uri="{FF2B5EF4-FFF2-40B4-BE49-F238E27FC236}">
                <a16:creationId xmlns:a16="http://schemas.microsoft.com/office/drawing/2014/main" id="{A89123E9-FFF3-4571-8827-D42BC7CC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Teams inspect and govern AI execution</a:t>
            </a:r>
          </a:p>
        </p:txBody>
      </p:sp>
      <p:sp>
        <p:nvSpPr>
          <p:cNvPr id="42" name="dot-2">
            <a:extLst xmlns:a="http://schemas.openxmlformats.org/drawingml/2006/main">
              <a:ext uri="{FF2B5EF4-FFF2-40B4-BE49-F238E27FC236}">
                <a16:creationId xmlns:a16="http://schemas.microsoft.com/office/drawing/2014/main" id="{693BB7F0-F3F9-416E-8780-274C802D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43" name="bullet-2">
            <a:extLst xmlns:a="http://schemas.openxmlformats.org/drawingml/2006/main">
              <a:ext uri="{FF2B5EF4-FFF2-40B4-BE49-F238E27FC236}">
                <a16:creationId xmlns:a16="http://schemas.microsoft.com/office/drawing/2014/main" id="{87E93621-71C9-45D3-BEB9-0BA35AF4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Developers build apps on top of agent runtimes</a:t>
            </a:r>
          </a:p>
        </p:txBody>
      </p:sp>
      <p:sp>
        <p:nvSpPr>
          <p:cNvPr id="44" name="dot-3">
            <a:extLst xmlns:a="http://schemas.openxmlformats.org/drawingml/2006/main">
              <a:ext uri="{FF2B5EF4-FFF2-40B4-BE49-F238E27FC236}">
                <a16:creationId xmlns:a16="http://schemas.microsoft.com/office/drawing/2014/main" id="{03F99EB8-7248-490D-B496-B42AE296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solidFill>
              <a:srgbClr val="7C5CFF"/>
            </a:solidFill>
            <a:prstDash val="solid"/>
          </a:ln>
        </p:spPr>
      </p:sp>
      <p:sp>
        <p:nvSpPr>
          <p:cNvPr id="45" name="bullet-3">
            <a:extLst xmlns:a="http://schemas.openxmlformats.org/drawingml/2006/main">
              <a:ext uri="{FF2B5EF4-FFF2-40B4-BE49-F238E27FC236}">
                <a16:creationId xmlns:a16="http://schemas.microsoft.com/office/drawing/2014/main" id="{9B7388D8-7FDB-4F99-9AD7-B7BB6A9B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Long-term bridge to robotics and real-world systems</a:t>
            </a:r>
          </a:p>
        </p:txBody>
      </p:sp>
    </p:spTree>
    <p:extLst>
      <p:ext uri="{BB962C8B-B14F-4D97-AF65-F5344CB8AC3E}">
        <p14:creationId xmlns:p14="http://schemas.microsoft.com/office/powerpoint/2010/main" val="9881828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7449A1F-7C48-4A4B-8E88-DD391B33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2" name="bg-base">
            <a:extLst xmlns:a="http://schemas.openxmlformats.org/drawingml/2006/main">
              <a:ext uri="{FF2B5EF4-FFF2-40B4-BE49-F238E27FC236}">
                <a16:creationId xmlns:a16="http://schemas.microsoft.com/office/drawing/2014/main" id="{A7A48D03-532F-4757-A5BD-33CB8EB4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CCB23453-01A0-4BA5-A421-55BADBEA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4" name="grid-v-1">
            <a:extLst xmlns:a="http://schemas.openxmlformats.org/drawingml/2006/main">
              <a:ext uri="{FF2B5EF4-FFF2-40B4-BE49-F238E27FC236}">
                <a16:creationId xmlns:a16="http://schemas.microsoft.com/office/drawing/2014/main" id="{4B390D30-804D-4971-A61D-27E92A9A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5" name="grid-v-2">
            <a:extLst xmlns:a="http://schemas.openxmlformats.org/drawingml/2006/main">
              <a:ext uri="{FF2B5EF4-FFF2-40B4-BE49-F238E27FC236}">
                <a16:creationId xmlns:a16="http://schemas.microsoft.com/office/drawing/2014/main" id="{962901AF-6069-41EF-A610-DB172AF2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6" name="grid-v-3">
            <a:extLst xmlns:a="http://schemas.openxmlformats.org/drawingml/2006/main">
              <a:ext uri="{FF2B5EF4-FFF2-40B4-BE49-F238E27FC236}">
                <a16:creationId xmlns:a16="http://schemas.microsoft.com/office/drawing/2014/main" id="{3077F063-57B0-4498-B3BD-6C155803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7" name="grid-v-4">
            <a:extLst xmlns:a="http://schemas.openxmlformats.org/drawingml/2006/main">
              <a:ext uri="{FF2B5EF4-FFF2-40B4-BE49-F238E27FC236}">
                <a16:creationId xmlns:a16="http://schemas.microsoft.com/office/drawing/2014/main" id="{2573BE3C-3CAC-42D2-8D15-B6E48EE8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8" name="grid-v-5">
            <a:extLst xmlns:a="http://schemas.openxmlformats.org/drawingml/2006/main">
              <a:ext uri="{FF2B5EF4-FFF2-40B4-BE49-F238E27FC236}">
                <a16:creationId xmlns:a16="http://schemas.microsoft.com/office/drawing/2014/main" id="{238CCBE2-CC75-4C05-8E7B-34D98F46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9" name="grid-v-6">
            <a:extLst xmlns:a="http://schemas.openxmlformats.org/drawingml/2006/main">
              <a:ext uri="{FF2B5EF4-FFF2-40B4-BE49-F238E27FC236}">
                <a16:creationId xmlns:a16="http://schemas.microsoft.com/office/drawing/2014/main" id="{3EAC6F44-D0F5-4A7C-87BA-E0F01A11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0" name="grid-v-7">
            <a:extLst xmlns:a="http://schemas.openxmlformats.org/drawingml/2006/main">
              <a:ext uri="{FF2B5EF4-FFF2-40B4-BE49-F238E27FC236}">
                <a16:creationId xmlns:a16="http://schemas.microsoft.com/office/drawing/2014/main" id="{C1F48EFF-2B0A-403C-AB3E-E7B053EA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1" name="grid-v-8">
            <a:extLst xmlns:a="http://schemas.openxmlformats.org/drawingml/2006/main">
              <a:ext uri="{FF2B5EF4-FFF2-40B4-BE49-F238E27FC236}">
                <a16:creationId xmlns:a16="http://schemas.microsoft.com/office/drawing/2014/main" id="{F6BBB0A2-EADE-4A01-9BA0-C8418A06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2" name="grid-v-9">
            <a:extLst xmlns:a="http://schemas.openxmlformats.org/drawingml/2006/main">
              <a:ext uri="{FF2B5EF4-FFF2-40B4-BE49-F238E27FC236}">
                <a16:creationId xmlns:a16="http://schemas.microsoft.com/office/drawing/2014/main" id="{A745EEC9-9782-4BE1-8908-EFBDC692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3" name="grid-h-0">
            <a:extLst xmlns:a="http://schemas.openxmlformats.org/drawingml/2006/main">
              <a:ext uri="{FF2B5EF4-FFF2-40B4-BE49-F238E27FC236}">
                <a16:creationId xmlns:a16="http://schemas.microsoft.com/office/drawing/2014/main" id="{338EE3EF-8AF3-4C45-9945-66FCA355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4" name="grid-h-1">
            <a:extLst xmlns:a="http://schemas.openxmlformats.org/drawingml/2006/main">
              <a:ext uri="{FF2B5EF4-FFF2-40B4-BE49-F238E27FC236}">
                <a16:creationId xmlns:a16="http://schemas.microsoft.com/office/drawing/2014/main" id="{7CE3AB17-9112-4D11-950F-F7F713F9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5" name="grid-h-2">
            <a:extLst xmlns:a="http://schemas.openxmlformats.org/drawingml/2006/main">
              <a:ext uri="{FF2B5EF4-FFF2-40B4-BE49-F238E27FC236}">
                <a16:creationId xmlns:a16="http://schemas.microsoft.com/office/drawing/2014/main" id="{6BA73467-49FF-426C-8D45-48B5BDF7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290C377D-6440-4120-B1AE-2BAA4C37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7" name="grid-h-4">
            <a:extLst xmlns:a="http://schemas.openxmlformats.org/drawingml/2006/main">
              <a:ext uri="{FF2B5EF4-FFF2-40B4-BE49-F238E27FC236}">
                <a16:creationId xmlns:a16="http://schemas.microsoft.com/office/drawing/2014/main" id="{BACA2659-EF41-4AB3-A463-7673A10F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8" name="accent-glow">
            <a:extLst xmlns:a="http://schemas.openxmlformats.org/drawingml/2006/main">
              <a:ext uri="{FF2B5EF4-FFF2-40B4-BE49-F238E27FC236}">
                <a16:creationId xmlns:a16="http://schemas.microsoft.com/office/drawing/2014/main" id="{FEDF9FB8-B578-468E-B326-6F6EFFDA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42875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A70"/>
          </a:solidFill>
          <a:ln xmlns:a="http://schemas.openxmlformats.org/drawingml/2006/main" w="0">
            <a:solidFill>
              <a:srgbClr val="0A5A70"/>
            </a:solidFill>
            <a:prstDash val="solid"/>
          </a:ln>
        </p:spPr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A1EBF1-C854-49E6-9DCF-53A74093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E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E9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20" name="brand">
            <a:extLst xmlns:a="http://schemas.openxmlformats.org/drawingml/2006/main">
              <a:ext uri="{FF2B5EF4-FFF2-40B4-BE49-F238E27FC236}">
                <a16:creationId xmlns:a16="http://schemas.microsoft.com/office/drawing/2014/main" id="{79E46EF0-4358-4689-96D1-148DD660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6D7FF"/>
                </a:solidFill>
                <a:latin typeface="Aptos"/>
                <a:ea typeface="Aptos"/>
                <a:cs typeface="Aptos"/>
              </a:rPr>
              <a:t>SULCUS OS</a:t>
            </a:r>
          </a:p>
        </p:txBody>
      </p:sp>
      <p:sp>
        <p:nvSpPr>
          <p:cNvPr id="21" name="brand-rule">
            <a:extLst xmlns:a="http://schemas.openxmlformats.org/drawingml/2006/main">
              <a:ext uri="{FF2B5EF4-FFF2-40B4-BE49-F238E27FC236}">
                <a16:creationId xmlns:a16="http://schemas.microsoft.com/office/drawing/2014/main" id="{71F96579-7D3C-4E7B-960C-9959BAE3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D7FF"/>
            </a:solidFill>
            <a:prstDash val="solid"/>
          </a:ln>
        </p:spPr>
      </p:sp>
      <p:sp>
        <p:nvSpPr>
          <p:cNvPr id="22" name="title">
            <a:extLst xmlns:a="http://schemas.openxmlformats.org/drawingml/2006/main">
              <a:ext uri="{FF2B5EF4-FFF2-40B4-BE49-F238E27FC236}">
                <a16:creationId xmlns:a16="http://schemas.microsoft.com/office/drawing/2014/main" id="{8263845B-5DCC-4AC1-8FE5-87440BF7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Why a Non-Technical Co-Founder Is Needed</a:t>
            </a:r>
          </a:p>
        </p:txBody>
      </p:sp>
      <p:sp>
        <p:nvSpPr>
          <p:cNvPr id="23" name="message">
            <a:extLst xmlns:a="http://schemas.openxmlformats.org/drawingml/2006/main">
              <a:ext uri="{FF2B5EF4-FFF2-40B4-BE49-F238E27FC236}">
                <a16:creationId xmlns:a16="http://schemas.microsoft.com/office/drawing/2014/main" id="{80100BBB-A4A5-46D0-B591-B85E2EA3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8C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9B8CC"/>
                </a:solidFill>
                <a:latin typeface="Aptos"/>
                <a:ea typeface="Aptos"/>
                <a:cs typeface="Aptos"/>
              </a:rPr>
              <a:t>The technical foundation is forming. The company needs market, customer, and growth leadership.</a:t>
            </a:r>
          </a:p>
        </p:txBody>
      </p:sp>
      <p:sp>
        <p:nvSpPr>
          <p:cNvPr id="24" name="card">
            <a:extLst xmlns:a="http://schemas.openxmlformats.org/drawingml/2006/main">
              <a:ext uri="{FF2B5EF4-FFF2-40B4-BE49-F238E27FC236}">
                <a16:creationId xmlns:a16="http://schemas.microsoft.com/office/drawing/2014/main" id="{2D163F53-DBFF-4389-B637-63B6BCAB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18097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25" name="card-label">
            <a:extLst xmlns:a="http://schemas.openxmlformats.org/drawingml/2006/main">
              <a:ext uri="{FF2B5EF4-FFF2-40B4-BE49-F238E27FC236}">
                <a16:creationId xmlns:a16="http://schemas.microsoft.com/office/drawing/2014/main" id="{9F6139C8-D014-4B39-ACEF-D0E4922B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24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Technical</a:t>
            </a:r>
          </a:p>
          <a:p xmlns:a="http://schemas.openxmlformats.org/drawingml/2006/main">
            <a:pPr algn="ctr">
              <a:defRPr sz="15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Founder</a:t>
            </a:r>
          </a:p>
        </p:txBody>
      </p:sp>
      <p:sp>
        <p:nvSpPr>
          <p:cNvPr id="26" name="card">
            <a:extLst xmlns:a="http://schemas.openxmlformats.org/drawingml/2006/main">
              <a:ext uri="{FF2B5EF4-FFF2-40B4-BE49-F238E27FC236}">
                <a16:creationId xmlns:a16="http://schemas.microsoft.com/office/drawing/2014/main" id="{0871A45C-710B-4D80-8704-6DC04A10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18097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36D7FF"/>
            </a:solidFill>
            <a:prstDash val="solid"/>
          </a:ln>
        </p:spPr>
      </p:sp>
      <p:sp>
        <p:nvSpPr>
          <p:cNvPr id="27" name="card-label">
            <a:extLst xmlns:a="http://schemas.openxmlformats.org/drawingml/2006/main">
              <a:ext uri="{FF2B5EF4-FFF2-40B4-BE49-F238E27FC236}">
                <a16:creationId xmlns:a16="http://schemas.microsoft.com/office/drawing/2014/main" id="{B22EE9E9-DB9A-4268-89D5-8631D533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24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Business</a:t>
            </a:r>
          </a:p>
          <a:p xmlns:a="http://schemas.openxmlformats.org/drawingml/2006/main">
            <a:pPr algn="ctr">
              <a:defRPr sz="15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Co-Founder</a:t>
            </a:r>
          </a:p>
        </p:txBody>
      </p:sp>
      <p:cxnSp>
        <p:nvCxnSpPr>
          <p:cNvPr id="86" name=""/>
          <p:cNvCxnSpPr>
            <a:stCxn xmlns:a="http://schemas.openxmlformats.org/drawingml/2006/main" id="2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8667750" y="32670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sp>
        <p:nvSpPr>
          <p:cNvPr id="29" name="pill">
            <a:extLst xmlns:a="http://schemas.openxmlformats.org/drawingml/2006/main">
              <a:ext uri="{FF2B5EF4-FFF2-40B4-BE49-F238E27FC236}">
                <a16:creationId xmlns:a16="http://schemas.microsoft.com/office/drawing/2014/main" id="{324A1089-88D4-46BE-A823-884A2AB0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95750"/>
            <a:ext cx="12001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49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0" name="pill-label">
            <a:extLst xmlns:a="http://schemas.openxmlformats.org/drawingml/2006/main">
              <a:ext uri="{FF2B5EF4-FFF2-40B4-BE49-F238E27FC236}">
                <a16:creationId xmlns:a16="http://schemas.microsoft.com/office/drawing/2014/main" id="{ACE569F5-2A6B-43B3-A6B0-907A9BC5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719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Market</a:t>
            </a:r>
          </a:p>
        </p:txBody>
      </p:sp>
      <p:sp>
        <p:nvSpPr>
          <p:cNvPr id="31" name="pill">
            <a:extLst xmlns:a="http://schemas.openxmlformats.org/drawingml/2006/main">
              <a:ext uri="{FF2B5EF4-FFF2-40B4-BE49-F238E27FC236}">
                <a16:creationId xmlns:a16="http://schemas.microsoft.com/office/drawing/2014/main" id="{FB206A86-EA2C-411A-8541-51FD99A8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95750"/>
            <a:ext cx="12001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49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2" name="pill-label">
            <a:extLst xmlns:a="http://schemas.openxmlformats.org/drawingml/2006/main">
              <a:ext uri="{FF2B5EF4-FFF2-40B4-BE49-F238E27FC236}">
                <a16:creationId xmlns:a16="http://schemas.microsoft.com/office/drawing/2014/main" id="{F1215714-F08F-446F-8C70-4FD19CBB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719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Customers</a:t>
            </a:r>
          </a:p>
        </p:txBody>
      </p:sp>
      <p:sp>
        <p:nvSpPr>
          <p:cNvPr id="33" name="pill">
            <a:extLst xmlns:a="http://schemas.openxmlformats.org/drawingml/2006/main">
              <a:ext uri="{FF2B5EF4-FFF2-40B4-BE49-F238E27FC236}">
                <a16:creationId xmlns:a16="http://schemas.microsoft.com/office/drawing/2014/main" id="{EAD43B5D-F1F1-4803-AEA4-3C552891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33900"/>
            <a:ext cx="12001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49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4" name="pill-label">
            <a:extLst xmlns:a="http://schemas.openxmlformats.org/drawingml/2006/main">
              <a:ext uri="{FF2B5EF4-FFF2-40B4-BE49-F238E27FC236}">
                <a16:creationId xmlns:a16="http://schemas.microsoft.com/office/drawing/2014/main" id="{5BE9890F-407E-443B-BE53-74796557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10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Capital</a:t>
            </a:r>
          </a:p>
        </p:txBody>
      </p:sp>
      <p:sp>
        <p:nvSpPr>
          <p:cNvPr id="35" name="pill">
            <a:extLst xmlns:a="http://schemas.openxmlformats.org/drawingml/2006/main">
              <a:ext uri="{FF2B5EF4-FFF2-40B4-BE49-F238E27FC236}">
                <a16:creationId xmlns:a16="http://schemas.microsoft.com/office/drawing/2014/main" id="{6735031E-0A8F-41B4-A10D-19C25232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33900"/>
            <a:ext cx="12001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49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6" name="pill-label">
            <a:extLst xmlns:a="http://schemas.openxmlformats.org/drawingml/2006/main">
              <a:ext uri="{FF2B5EF4-FFF2-40B4-BE49-F238E27FC236}">
                <a16:creationId xmlns:a16="http://schemas.microsoft.com/office/drawing/2014/main" id="{EC2CAEEA-A0F8-41E4-8130-9EF723EA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6101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Community</a:t>
            </a:r>
          </a:p>
        </p:txBody>
      </p:sp>
      <p:sp>
        <p:nvSpPr>
          <p:cNvPr id="37" name="pill">
            <a:extLst xmlns:a="http://schemas.openxmlformats.org/drawingml/2006/main">
              <a:ext uri="{FF2B5EF4-FFF2-40B4-BE49-F238E27FC236}">
                <a16:creationId xmlns:a16="http://schemas.microsoft.com/office/drawing/2014/main" id="{632BD7F5-E01F-4ED7-9F21-E99901D3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72050"/>
            <a:ext cx="12001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349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8" name="pill-label">
            <a:extLst xmlns:a="http://schemas.openxmlformats.org/drawingml/2006/main">
              <a:ext uri="{FF2B5EF4-FFF2-40B4-BE49-F238E27FC236}">
                <a16:creationId xmlns:a16="http://schemas.microsoft.com/office/drawing/2014/main" id="{EBA985CD-CB03-4549-96C9-EB693F94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482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GTM</a:t>
            </a:r>
          </a:p>
        </p:txBody>
      </p:sp>
      <p:sp>
        <p:nvSpPr>
          <p:cNvPr id="39" name="dot-0">
            <a:extLst xmlns:a="http://schemas.openxmlformats.org/drawingml/2006/main">
              <a:ext uri="{FF2B5EF4-FFF2-40B4-BE49-F238E27FC236}">
                <a16:creationId xmlns:a16="http://schemas.microsoft.com/office/drawing/2014/main" id="{2DD6EAD5-4266-4167-B2B8-3AC5873A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194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40" name="bullet-0">
            <a:extLst xmlns:a="http://schemas.openxmlformats.org/drawingml/2006/main">
              <a:ext uri="{FF2B5EF4-FFF2-40B4-BE49-F238E27FC236}">
                <a16:creationId xmlns:a16="http://schemas.microsoft.com/office/drawing/2014/main" id="{D6018DBE-86B6-4C4C-8685-9A955EAF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Customer discovery</a:t>
            </a:r>
          </a:p>
        </p:txBody>
      </p:sp>
      <p:sp>
        <p:nvSpPr>
          <p:cNvPr id="41" name="dot-1">
            <a:extLst xmlns:a="http://schemas.openxmlformats.org/drawingml/2006/main">
              <a:ext uri="{FF2B5EF4-FFF2-40B4-BE49-F238E27FC236}">
                <a16:creationId xmlns:a16="http://schemas.microsoft.com/office/drawing/2014/main" id="{556B933A-9E91-4381-AEB2-5BE1D045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42" name="bullet-1">
            <a:extLst xmlns:a="http://schemas.openxmlformats.org/drawingml/2006/main">
              <a:ext uri="{FF2B5EF4-FFF2-40B4-BE49-F238E27FC236}">
                <a16:creationId xmlns:a16="http://schemas.microsoft.com/office/drawing/2014/main" id="{8EBBB05F-D6A4-4830-AEFE-1888D719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Positioning</a:t>
            </a:r>
          </a:p>
        </p:txBody>
      </p:sp>
      <p:sp>
        <p:nvSpPr>
          <p:cNvPr id="43" name="dot-2">
            <a:extLst xmlns:a="http://schemas.openxmlformats.org/drawingml/2006/main">
              <a:ext uri="{FF2B5EF4-FFF2-40B4-BE49-F238E27FC236}">
                <a16:creationId xmlns:a16="http://schemas.microsoft.com/office/drawing/2014/main" id="{A4EDCE5B-0B49-488C-8083-D2880EAA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9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44" name="bullet-2">
            <a:extLst xmlns:a="http://schemas.openxmlformats.org/drawingml/2006/main">
              <a:ext uri="{FF2B5EF4-FFF2-40B4-BE49-F238E27FC236}">
                <a16:creationId xmlns:a16="http://schemas.microsoft.com/office/drawing/2014/main" id="{1A18A8C6-A656-4D09-B24D-15A4372F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Sales and partnerships</a:t>
            </a:r>
          </a:p>
        </p:txBody>
      </p:sp>
      <p:sp>
        <p:nvSpPr>
          <p:cNvPr id="45" name="dot-3">
            <a:extLst xmlns:a="http://schemas.openxmlformats.org/drawingml/2006/main">
              <a:ext uri="{FF2B5EF4-FFF2-40B4-BE49-F238E27FC236}">
                <a16:creationId xmlns:a16="http://schemas.microsoft.com/office/drawing/2014/main" id="{F863F93A-03B0-4552-8B0C-CE2B2153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46" name="bullet-3">
            <a:extLst xmlns:a="http://schemas.openxmlformats.org/drawingml/2006/main">
              <a:ext uri="{FF2B5EF4-FFF2-40B4-BE49-F238E27FC236}">
                <a16:creationId xmlns:a16="http://schemas.microsoft.com/office/drawing/2014/main" id="{74D40687-8A03-42A1-A7B3-429CC00F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385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Fundraising narrative</a:t>
            </a:r>
          </a:p>
        </p:txBody>
      </p:sp>
      <p:sp>
        <p:nvSpPr>
          <p:cNvPr id="47" name="dot-4">
            <a:extLst xmlns:a="http://schemas.openxmlformats.org/drawingml/2006/main">
              <a:ext uri="{FF2B5EF4-FFF2-40B4-BE49-F238E27FC236}">
                <a16:creationId xmlns:a16="http://schemas.microsoft.com/office/drawing/2014/main" id="{E13208C7-07CF-4A93-8653-2E34A143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48" name="bullet-4">
            <a:extLst xmlns:a="http://schemas.openxmlformats.org/drawingml/2006/main">
              <a:ext uri="{FF2B5EF4-FFF2-40B4-BE49-F238E27FC236}">
                <a16:creationId xmlns:a16="http://schemas.microsoft.com/office/drawing/2014/main" id="{13BB0E50-E992-4777-A067-5C304506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338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Community growth</a:t>
            </a:r>
          </a:p>
        </p:txBody>
      </p:sp>
      <p:sp>
        <p:nvSpPr>
          <p:cNvPr id="49" name="dot-5">
            <a:extLst xmlns:a="http://schemas.openxmlformats.org/drawingml/2006/main">
              <a:ext uri="{FF2B5EF4-FFF2-40B4-BE49-F238E27FC236}">
                <a16:creationId xmlns:a16="http://schemas.microsoft.com/office/drawing/2014/main" id="{547A4B4E-D9CE-41D3-9AB0-74CC684A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50" name="bullet-5">
            <a:extLst xmlns:a="http://schemas.openxmlformats.org/drawingml/2006/main">
              <a:ext uri="{FF2B5EF4-FFF2-40B4-BE49-F238E27FC236}">
                <a16:creationId xmlns:a16="http://schemas.microsoft.com/office/drawing/2014/main" id="{E64DEE97-69EA-45DA-845D-B74C197D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291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Developer relations</a:t>
            </a:r>
          </a:p>
        </p:txBody>
      </p:sp>
      <p:sp>
        <p:nvSpPr>
          <p:cNvPr id="51" name="dot-6">
            <a:extLst xmlns:a="http://schemas.openxmlformats.org/drawingml/2006/main">
              <a:ext uri="{FF2B5EF4-FFF2-40B4-BE49-F238E27FC236}">
                <a16:creationId xmlns:a16="http://schemas.microsoft.com/office/drawing/2014/main" id="{B9091198-150A-4956-9A7D-A03CAD5D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52" name="bullet-6">
            <a:extLst xmlns:a="http://schemas.openxmlformats.org/drawingml/2006/main">
              <a:ext uri="{FF2B5EF4-FFF2-40B4-BE49-F238E27FC236}">
                <a16:creationId xmlns:a16="http://schemas.microsoft.com/office/drawing/2014/main" id="{4490BA4F-1754-4C12-9552-4CC3FC33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Content strategy</a:t>
            </a:r>
          </a:p>
        </p:txBody>
      </p:sp>
      <p:sp>
        <p:nvSpPr>
          <p:cNvPr id="53" name="dot-7">
            <a:extLst xmlns:a="http://schemas.openxmlformats.org/drawingml/2006/main">
              <a:ext uri="{FF2B5EF4-FFF2-40B4-BE49-F238E27FC236}">
                <a16:creationId xmlns:a16="http://schemas.microsoft.com/office/drawing/2014/main" id="{77C9A5D3-66EA-40E8-8D08-CABB14A6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54" name="bullet-7">
            <a:extLst xmlns:a="http://schemas.openxmlformats.org/drawingml/2006/main">
              <a:ext uri="{FF2B5EF4-FFF2-40B4-BE49-F238E27FC236}">
                <a16:creationId xmlns:a16="http://schemas.microsoft.com/office/drawing/2014/main" id="{CCCFE5F5-88D9-40DC-BA85-E3CCF1EE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96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YC/application preparation</a:t>
            </a:r>
          </a:p>
        </p:txBody>
      </p:sp>
      <p:sp>
        <p:nvSpPr>
          <p:cNvPr id="55" name="dot-8">
            <a:extLst xmlns:a="http://schemas.openxmlformats.org/drawingml/2006/main">
              <a:ext uri="{FF2B5EF4-FFF2-40B4-BE49-F238E27FC236}">
                <a16:creationId xmlns:a16="http://schemas.microsoft.com/office/drawing/2014/main" id="{CACA85D8-7603-4221-9D8B-A3994FA0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816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56" name="bullet-8">
            <a:extLst xmlns:a="http://schemas.openxmlformats.org/drawingml/2006/main">
              <a:ext uri="{FF2B5EF4-FFF2-40B4-BE49-F238E27FC236}">
                <a16:creationId xmlns:a16="http://schemas.microsoft.com/office/drawing/2014/main" id="{82B1EC37-4416-45E1-A92D-BC04053E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14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Pricing and business model</a:t>
            </a:r>
          </a:p>
        </p:txBody>
      </p:sp>
      <p:sp>
        <p:nvSpPr>
          <p:cNvPr id="57" name="dot-9">
            <a:extLst xmlns:a="http://schemas.openxmlformats.org/drawingml/2006/main">
              <a:ext uri="{FF2B5EF4-FFF2-40B4-BE49-F238E27FC236}">
                <a16:creationId xmlns:a16="http://schemas.microsoft.com/office/drawing/2014/main" id="{5CCD0166-101F-4540-B9E8-69C4E7CF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7FF"/>
          </a:solidFill>
          <a:ln xmlns:a="http://schemas.openxmlformats.org/drawingml/2006/main" w="0">
            <a:solidFill>
              <a:srgbClr val="36D7FF"/>
            </a:solidFill>
            <a:prstDash val="solid"/>
          </a:ln>
        </p:spPr>
      </p:sp>
      <p:sp>
        <p:nvSpPr>
          <p:cNvPr id="58" name="bullet-9">
            <a:extLst xmlns:a="http://schemas.openxmlformats.org/drawingml/2006/main">
              <a:ext uri="{FF2B5EF4-FFF2-40B4-BE49-F238E27FC236}">
                <a16:creationId xmlns:a16="http://schemas.microsoft.com/office/drawing/2014/main" id="{3820ABCB-50AA-43EA-B162-A813CB1F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02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Finding early adopters</a:t>
            </a:r>
          </a:p>
        </p:txBody>
      </p:sp>
    </p:spTree>
    <p:extLst>
      <p:ext uri="{BB962C8B-B14F-4D97-AF65-F5344CB8AC3E}">
        <p14:creationId xmlns:p14="http://schemas.microsoft.com/office/powerpoint/2010/main" val="17565914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47B3DCD-AC7A-47AF-AB21-D88C7B50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4"/>
          </a:solidFill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2" name="bg-base">
            <a:extLst xmlns:a="http://schemas.openxmlformats.org/drawingml/2006/main">
              <a:ext uri="{FF2B5EF4-FFF2-40B4-BE49-F238E27FC236}">
                <a16:creationId xmlns:a16="http://schemas.microsoft.com/office/drawing/2014/main" id="{E5463663-60B9-481E-A04D-2B720D44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70B14"/>
            </a:solidFill>
            <a:prstDash val="solid"/>
          </a:ln>
        </p:spPr>
      </p:sp>
      <p:sp>
        <p:nvSpPr>
          <p:cNvPr id="3" name="grid-v-0">
            <a:extLst xmlns:a="http://schemas.openxmlformats.org/drawingml/2006/main">
              <a:ext uri="{FF2B5EF4-FFF2-40B4-BE49-F238E27FC236}">
                <a16:creationId xmlns:a16="http://schemas.microsoft.com/office/drawing/2014/main" id="{F12F95EF-5129-4C18-B3C5-EC0C8013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4" name="grid-v-1">
            <a:extLst xmlns:a="http://schemas.openxmlformats.org/drawingml/2006/main">
              <a:ext uri="{FF2B5EF4-FFF2-40B4-BE49-F238E27FC236}">
                <a16:creationId xmlns:a16="http://schemas.microsoft.com/office/drawing/2014/main" id="{7FE558C2-40B9-45E6-9E01-C25D5FCB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5" name="grid-v-2">
            <a:extLst xmlns:a="http://schemas.openxmlformats.org/drawingml/2006/main">
              <a:ext uri="{FF2B5EF4-FFF2-40B4-BE49-F238E27FC236}">
                <a16:creationId xmlns:a16="http://schemas.microsoft.com/office/drawing/2014/main" id="{64F8364A-65D4-4622-A18B-2ADEF67B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6" name="grid-v-3">
            <a:extLst xmlns:a="http://schemas.openxmlformats.org/drawingml/2006/main">
              <a:ext uri="{FF2B5EF4-FFF2-40B4-BE49-F238E27FC236}">
                <a16:creationId xmlns:a16="http://schemas.microsoft.com/office/drawing/2014/main" id="{B384864A-2783-436F-BC5D-7B85651C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7" name="grid-v-4">
            <a:extLst xmlns:a="http://schemas.openxmlformats.org/drawingml/2006/main">
              <a:ext uri="{FF2B5EF4-FFF2-40B4-BE49-F238E27FC236}">
                <a16:creationId xmlns:a16="http://schemas.microsoft.com/office/drawing/2014/main" id="{4678AA3D-102F-4699-9C37-84883FED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8" name="grid-v-5">
            <a:extLst xmlns:a="http://schemas.openxmlformats.org/drawingml/2006/main">
              <a:ext uri="{FF2B5EF4-FFF2-40B4-BE49-F238E27FC236}">
                <a16:creationId xmlns:a16="http://schemas.microsoft.com/office/drawing/2014/main" id="{0F90AF52-8574-4DBD-B224-8296D5E1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9" name="grid-v-6">
            <a:extLst xmlns:a="http://schemas.openxmlformats.org/drawingml/2006/main">
              <a:ext uri="{FF2B5EF4-FFF2-40B4-BE49-F238E27FC236}">
                <a16:creationId xmlns:a16="http://schemas.microsoft.com/office/drawing/2014/main" id="{EAA6904B-9660-4302-908E-2EE841E4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0" name="grid-v-7">
            <a:extLst xmlns:a="http://schemas.openxmlformats.org/drawingml/2006/main">
              <a:ext uri="{FF2B5EF4-FFF2-40B4-BE49-F238E27FC236}">
                <a16:creationId xmlns:a16="http://schemas.microsoft.com/office/drawing/2014/main" id="{6672F2D7-E620-47B2-9083-B5CCC206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1" name="grid-v-8">
            <a:extLst xmlns:a="http://schemas.openxmlformats.org/drawingml/2006/main">
              <a:ext uri="{FF2B5EF4-FFF2-40B4-BE49-F238E27FC236}">
                <a16:creationId xmlns:a16="http://schemas.microsoft.com/office/drawing/2014/main" id="{1C6FF66C-E88B-41F0-8A80-1E20D84F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2" name="grid-v-9">
            <a:extLst xmlns:a="http://schemas.openxmlformats.org/drawingml/2006/main">
              <a:ext uri="{FF2B5EF4-FFF2-40B4-BE49-F238E27FC236}">
                <a16:creationId xmlns:a16="http://schemas.microsoft.com/office/drawing/2014/main" id="{62828730-9920-402B-A5B1-8944D13C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2236"/>
            </a:solidFill>
            <a:prstDash val="solid"/>
          </a:ln>
        </p:spPr>
      </p:sp>
      <p:sp>
        <p:nvSpPr>
          <p:cNvPr id="13" name="grid-h-0">
            <a:extLst xmlns:a="http://schemas.openxmlformats.org/drawingml/2006/main">
              <a:ext uri="{FF2B5EF4-FFF2-40B4-BE49-F238E27FC236}">
                <a16:creationId xmlns:a16="http://schemas.microsoft.com/office/drawing/2014/main" id="{6FAA8F2D-24C7-4156-B9FD-AC7563E2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4" name="grid-h-1">
            <a:extLst xmlns:a="http://schemas.openxmlformats.org/drawingml/2006/main">
              <a:ext uri="{FF2B5EF4-FFF2-40B4-BE49-F238E27FC236}">
                <a16:creationId xmlns:a16="http://schemas.microsoft.com/office/drawing/2014/main" id="{226EA1DE-B4A5-44DF-8190-9BACAA7C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5" name="grid-h-2">
            <a:extLst xmlns:a="http://schemas.openxmlformats.org/drawingml/2006/main">
              <a:ext uri="{FF2B5EF4-FFF2-40B4-BE49-F238E27FC236}">
                <a16:creationId xmlns:a16="http://schemas.microsoft.com/office/drawing/2014/main" id="{AA498AD8-AFA1-4386-81D4-352DDAC3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6" name="grid-h-3">
            <a:extLst xmlns:a="http://schemas.openxmlformats.org/drawingml/2006/main">
              <a:ext uri="{FF2B5EF4-FFF2-40B4-BE49-F238E27FC236}">
                <a16:creationId xmlns:a16="http://schemas.microsoft.com/office/drawing/2014/main" id="{26D1C323-677E-4217-9469-F724B12F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7" name="grid-h-4">
            <a:extLst xmlns:a="http://schemas.openxmlformats.org/drawingml/2006/main">
              <a:ext uri="{FF2B5EF4-FFF2-40B4-BE49-F238E27FC236}">
                <a16:creationId xmlns:a16="http://schemas.microsoft.com/office/drawing/2014/main" id="{F1D827A5-287E-41F6-B9AE-F9BC70A3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B2B"/>
            </a:solidFill>
            <a:prstDash val="solid"/>
          </a:ln>
        </p:spPr>
      </p:sp>
      <p:sp>
        <p:nvSpPr>
          <p:cNvPr id="18" name="accent-glow">
            <a:extLst xmlns:a="http://schemas.openxmlformats.org/drawingml/2006/main">
              <a:ext uri="{FF2B5EF4-FFF2-40B4-BE49-F238E27FC236}">
                <a16:creationId xmlns:a16="http://schemas.microsoft.com/office/drawing/2014/main" id="{607D1005-D507-4E9B-B1FC-E16825EE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142875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5A70"/>
          </a:solidFill>
          <a:ln xmlns:a="http://schemas.openxmlformats.org/drawingml/2006/main" w="0">
            <a:solidFill>
              <a:srgbClr val="0A5A70"/>
            </a:solidFill>
            <a:prstDash val="solid"/>
          </a:ln>
        </p:spPr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5EE169B-66ED-46D0-A933-3323F8BD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E9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7E9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0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6D5EFCB1-ADF0-43B7-8629-CF0BA5ED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7635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Build the operating layer for AI agents.</a:t>
            </a:r>
          </a:p>
        </p:txBody>
      </p:sp>
      <p:sp>
        <p:nvSpPr>
          <p:cNvPr id="21" name="closing-message">
            <a:extLst xmlns:a="http://schemas.openxmlformats.org/drawingml/2006/main">
              <a:ext uri="{FF2B5EF4-FFF2-40B4-BE49-F238E27FC236}">
                <a16:creationId xmlns:a16="http://schemas.microsoft.com/office/drawing/2014/main" id="{7C10C667-CF7D-4006-92B8-FE805B64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6D7FF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36D7FF"/>
                </a:solidFill>
                <a:latin typeface="Aptos"/>
                <a:ea typeface="Aptos"/>
                <a:cs typeface="Aptos"/>
              </a:rPr>
              <a:t>This is not just a project. This is the beginning of a company.</a:t>
            </a:r>
          </a:p>
        </p:txBody>
      </p:sp>
      <p:sp>
        <p:nvSpPr>
          <p:cNvPr id="22" name="dot-0">
            <a:extLst xmlns:a="http://schemas.openxmlformats.org/drawingml/2006/main">
              <a:ext uri="{FF2B5EF4-FFF2-40B4-BE49-F238E27FC236}">
                <a16:creationId xmlns:a16="http://schemas.microsoft.com/office/drawing/2014/main" id="{FA3AE9C2-08D7-4F5E-BAE5-738BEDA2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0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6A5"/>
          </a:solidFill>
          <a:ln xmlns:a="http://schemas.openxmlformats.org/drawingml/2006/main" w="0">
            <a:solidFill>
              <a:srgbClr val="55E6A5"/>
            </a:solidFill>
            <a:prstDash val="solid"/>
          </a:ln>
        </p:spPr>
      </p:sp>
      <p:sp>
        <p:nvSpPr>
          <p:cNvPr id="23" name="bullet-0">
            <a:extLst xmlns:a="http://schemas.openxmlformats.org/drawingml/2006/main">
              <a:ext uri="{FF2B5EF4-FFF2-40B4-BE49-F238E27FC236}">
                <a16:creationId xmlns:a16="http://schemas.microsoft.com/office/drawing/2014/main" id="{EE39ECB7-90BD-4B6A-A717-8CC5FF99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Join early enough to shape the category</a:t>
            </a:r>
          </a:p>
        </p:txBody>
      </p:sp>
      <p:sp>
        <p:nvSpPr>
          <p:cNvPr id="24" name="dot-1">
            <a:extLst xmlns:a="http://schemas.openxmlformats.org/drawingml/2006/main">
              <a:ext uri="{FF2B5EF4-FFF2-40B4-BE49-F238E27FC236}">
                <a16:creationId xmlns:a16="http://schemas.microsoft.com/office/drawing/2014/main" id="{74B27B43-1460-414F-B16C-6E77D82E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67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6A5"/>
          </a:solidFill>
          <a:ln xmlns:a="http://schemas.openxmlformats.org/drawingml/2006/main" w="0">
            <a:solidFill>
              <a:srgbClr val="55E6A5"/>
            </a:solidFill>
            <a:prstDash val="solid"/>
          </a:ln>
        </p:spPr>
      </p:sp>
      <p:sp>
        <p:nvSpPr>
          <p:cNvPr id="25" name="bullet-1">
            <a:extLst xmlns:a="http://schemas.openxmlformats.org/drawingml/2006/main">
              <a:ext uri="{FF2B5EF4-FFF2-40B4-BE49-F238E27FC236}">
                <a16:creationId xmlns:a16="http://schemas.microsoft.com/office/drawing/2014/main" id="{7CF30656-6060-4FC3-90F1-9871EC7C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006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Own the business side from day one</a:t>
            </a:r>
          </a:p>
        </p:txBody>
      </p:sp>
      <p:sp>
        <p:nvSpPr>
          <p:cNvPr id="26" name="dot-2">
            <a:extLst xmlns:a="http://schemas.openxmlformats.org/drawingml/2006/main">
              <a:ext uri="{FF2B5EF4-FFF2-40B4-BE49-F238E27FC236}">
                <a16:creationId xmlns:a16="http://schemas.microsoft.com/office/drawing/2014/main" id="{48BB6B25-560B-4BAF-AB9D-74D14489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24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E6A5"/>
          </a:solidFill>
          <a:ln xmlns:a="http://schemas.openxmlformats.org/drawingml/2006/main" w="0">
            <a:solidFill>
              <a:srgbClr val="55E6A5"/>
            </a:solidFill>
            <a:prstDash val="solid"/>
          </a:ln>
        </p:spPr>
      </p:sp>
      <p:sp>
        <p:nvSpPr>
          <p:cNvPr id="27" name="bullet-2">
            <a:extLst xmlns:a="http://schemas.openxmlformats.org/drawingml/2006/main">
              <a:ext uri="{FF2B5EF4-FFF2-40B4-BE49-F238E27FC236}">
                <a16:creationId xmlns:a16="http://schemas.microsoft.com/office/drawing/2014/main" id="{55FE5DCE-568F-4A9B-A64F-835EF938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578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Turn deep technical infrastructure into a venture-scale company</a:t>
            </a:r>
          </a:p>
        </p:txBody>
      </p:sp>
      <p:sp>
        <p:nvSpPr>
          <p:cNvPr id="28" name="card">
            <a:extLst xmlns:a="http://schemas.openxmlformats.org/drawingml/2006/main">
              <a:ext uri="{FF2B5EF4-FFF2-40B4-BE49-F238E27FC236}">
                <a16:creationId xmlns:a16="http://schemas.microsoft.com/office/drawing/2014/main" id="{46F4E7EC-9AF9-4A48-9807-3FE9A29C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95750"/>
            <a:ext cx="200025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36D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9" name="card-label">
            <a:extLst xmlns:a="http://schemas.openxmlformats.org/drawingml/2006/main">
              <a:ext uri="{FF2B5EF4-FFF2-40B4-BE49-F238E27FC236}">
                <a16:creationId xmlns:a16="http://schemas.microsoft.com/office/drawing/2014/main" id="{EB00CD11-E696-4FB5-ACEE-7FC30A1C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1007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Sulcus OS</a:t>
            </a:r>
          </a:p>
        </p:txBody>
      </p:sp>
      <p:sp>
        <p:nvSpPr>
          <p:cNvPr id="30" name="pill">
            <a:extLst xmlns:a="http://schemas.openxmlformats.org/drawingml/2006/main">
              <a:ext uri="{FF2B5EF4-FFF2-40B4-BE49-F238E27FC236}">
                <a16:creationId xmlns:a16="http://schemas.microsoft.com/office/drawing/2014/main" id="{BE4D1A67-6AA2-436E-9F0F-6BFD1B1F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28950"/>
            <a:ext cx="1181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235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1" name="pill-label">
            <a:extLst xmlns:a="http://schemas.openxmlformats.org/drawingml/2006/main">
              <a:ext uri="{FF2B5EF4-FFF2-40B4-BE49-F238E27FC236}">
                <a16:creationId xmlns:a16="http://schemas.microsoft.com/office/drawing/2014/main" id="{7018F4E3-8952-433D-967B-0DEAC304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cxnSp>
        <p:nvCxnSpPr>
          <p:cNvPr id="70" name=""/>
          <p:cNvCxnSpPr>
            <a:stCxn xmlns:a="http://schemas.openxmlformats.org/drawingml/2006/main" id="30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8591550" y="3390900"/>
            <a:ext cx="1133475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sp>
        <p:nvSpPr>
          <p:cNvPr id="33" name="pill">
            <a:extLst xmlns:a="http://schemas.openxmlformats.org/drawingml/2006/main">
              <a:ext uri="{FF2B5EF4-FFF2-40B4-BE49-F238E27FC236}">
                <a16:creationId xmlns:a16="http://schemas.microsoft.com/office/drawing/2014/main" id="{FF04ED7F-88A2-4BA5-BDD7-32727FC9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28950"/>
            <a:ext cx="1181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235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4" name="pill-label">
            <a:extLst xmlns:a="http://schemas.openxmlformats.org/drawingml/2006/main">
              <a:ext uri="{FF2B5EF4-FFF2-40B4-BE49-F238E27FC236}">
                <a16:creationId xmlns:a16="http://schemas.microsoft.com/office/drawing/2014/main" id="{EB999F13-D0C6-4E4D-90BE-B15B5BEB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051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Community</a:t>
            </a:r>
          </a:p>
        </p:txBody>
      </p:sp>
      <p:cxnSp>
        <p:nvCxnSpPr>
          <p:cNvPr id="73" name=""/>
          <p:cNvCxnSpPr>
            <a:stCxn xmlns:a="http://schemas.openxmlformats.org/drawingml/2006/main" id="33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9725025" y="3390900"/>
            <a:ext cx="161925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  <p:sp>
        <p:nvSpPr>
          <p:cNvPr id="36" name="pill">
            <a:extLst xmlns:a="http://schemas.openxmlformats.org/drawingml/2006/main">
              <a:ext uri="{FF2B5EF4-FFF2-40B4-BE49-F238E27FC236}">
                <a16:creationId xmlns:a16="http://schemas.microsoft.com/office/drawing/2014/main" id="{4F657C22-180F-4A6A-AB30-F29C6D59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028950"/>
            <a:ext cx="11811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235"/>
          </a:solidFill>
          <a:ln xmlns:a="http://schemas.openxmlformats.org/drawingml/2006/main" w="9525">
            <a:solidFill>
              <a:srgbClr val="26364D"/>
            </a:solidFill>
            <a:prstDash val="solid"/>
          </a:ln>
        </p:spPr>
      </p:sp>
      <p:sp>
        <p:nvSpPr>
          <p:cNvPr id="37" name="pill-label">
            <a:extLst xmlns:a="http://schemas.openxmlformats.org/drawingml/2006/main">
              <a:ext uri="{FF2B5EF4-FFF2-40B4-BE49-F238E27FC236}">
                <a16:creationId xmlns:a16="http://schemas.microsoft.com/office/drawing/2014/main" id="{172C269E-F9DA-462E-AE74-4F227279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1051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Company</a:t>
            </a:r>
          </a:p>
        </p:txBody>
      </p:sp>
      <p:cxnSp>
        <p:nvCxnSpPr>
          <p:cNvPr id="76" name=""/>
          <p:cNvCxnSpPr>
            <a:stCxn xmlns:a="http://schemas.openxmlformats.org/drawingml/2006/main" id="36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9725025" y="3390900"/>
            <a:ext cx="1457325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7FF"/>
            </a:solidFill>
            <a:prstDash val="solid"/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17890827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2026-06-18T15:40:15.7780000Z</dcterms:created>
  <dcterms:modified xsi:type="dcterms:W3CDTF">2026-06-18T15:40:15.7790000Z</dcterms:modified>
</coreProperties>
</file>